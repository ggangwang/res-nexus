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【操作】本页为原生点击分步动画，共 5 次单击：</a:t>
            </a:r>
          </a:p>
          <a:p>
            <a:r>
              <a:t>1. 触发流水线；2. 申请资源；3. 构建与部署；4. 自动化测试；5. 报告与释放。</a:t>
            </a:r>
          </a:p>
          <a:p>
            <a:r>
              <a:t>初始仅显示流水线与资源纳管平台框架，按单击/空格逐步展开；编辑视图显示完整终态。</a:t>
            </a:r>
          </a:p>
          <a:p/>
          <a:p>
            <a:r>
              <a:t>【页面说明】</a:t>
            </a:r>
          </a:p>
          <a:p>
            <a:r>
              <a:t>GitLab 流水线分为 5 个作业：触发、申请资源、构建与部署、自动化测试、报告与释放。路线中包含 2 个关键集成点：① 流水线启动时通过资源纳管 API 申请资源；② 自动化测试时调用资源纳管的测控接口驱动目标机。</a:t>
            </a:r>
          </a:p>
          <a:p/>
          <a:p>
            <a:r>
              <a:t>【资源申请】</a:t>
            </a:r>
          </a:p>
          <a:p>
            <a:r>
              <a:t>resource:apply 作业提交目标机、时段、构型需求，资源纳管平台完成可用性校验并预约生效，目标机与构型进入锁定状态。</a:t>
            </a:r>
          </a:p>
          <a:p>
            <a:r>
              <a:t>【构建与部署】</a:t>
            </a:r>
          </a:p>
          <a:p>
            <a:r>
              <a:t>build:deploy 作业完成构建打包，并按构型下发工程与工具；资源侧目标机就绪。</a:t>
            </a:r>
          </a:p>
          <a:p>
            <a:r>
              <a:t>【自动化测试】</a:t>
            </a:r>
          </a:p>
          <a:p>
            <a:r>
              <a:t>test:hil 作业调用测控接口，通过供电、离散量、串口控制目标机，执行自动化测试并回传测试数据。</a:t>
            </a:r>
          </a:p>
          <a:p>
            <a:r>
              <a:t>【报告与释放】</a:t>
            </a:r>
          </a:p>
          <a:p>
            <a:r>
              <a:t>report:cleanup 作业归档测试结果，触发资源释放与回池，看板更新利用率和占用时长。</a:t>
            </a:r>
          </a:p>
          <a:p/>
          <a:p>
            <a:r>
              <a:t>【说明】作业名称为示意，可按实际 .gitlab-ci.yml 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55543" cy="45718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55543" cy="45718"/>
          </a:xfrm>
          <a:prstGeom prst="rect">
            <a:avLst/>
          </a:prstGeom>
          <a:solidFill>
            <a:srgbClr val="E24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55543" cy="45718"/>
          </a:xfrm>
          <a:prstGeom prst="rect">
            <a:avLst/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55543" cy="45718"/>
          </a:xfrm>
          <a:prstGeom prst="rect">
            <a:avLst/>
          </a:prstGeom>
          <a:solidFill>
            <a:srgbClr val="0B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07" y="297172"/>
            <a:ext cx="60958" cy="60958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63" y="213354"/>
            <a:ext cx="5943451" cy="2285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lang="zh-CN" altLang="en-US" spc="125">
                <a:solidFill>
                  <a:srgbClr val="C2410C"/>
                </a:solidFill>
                <a:latin typeface="Bahnschrift"/>
                <a:ea typeface="Bahnschrift"/>
                <a:cs typeface="Bahnschrift"/>
              </a:rPr>
              <a:t>GITLAB CI/CD  ×  RESOURCE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67" y="388610"/>
            <a:ext cx="8229394" cy="4267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zh-CN" altLang="en-US">
                <a:solidFill>
                  <a:srgbClr val="10243A"/>
                </a:solidFill>
                <a:latin typeface="Microsoft YaHei"/>
                <a:ea typeface="Microsoft YaHei"/>
                <a:cs typeface="Microsoft YaHei"/>
              </a:rPr>
              <a:t>GitLab 流水线资源纳管集成流程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67" y="906757"/>
            <a:ext cx="8915177" cy="2285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lang="zh-CN" altLang="en-US">
                <a:solidFill>
                  <a:srgbClr val="4B5D72"/>
                </a:solidFill>
                <a:latin typeface="Microsoft YaHei"/>
                <a:ea typeface="Microsoft YaHei"/>
                <a:cs typeface="Microsoft YaHei"/>
              </a:rPr>
              <a:t>流水线启动时通过资源纳管</a:t>
            </a:r>
            <a:r>
              <a:rPr sz="1120" b="1" lang="zh-CN" altLang="en-US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申请目标机资源</a:t>
            </a:r>
            <a:r>
              <a:rPr sz="1120" b="0" lang="zh-CN" altLang="en-US">
                <a:solidFill>
                  <a:srgbClr val="4B5D72"/>
                </a:solidFill>
                <a:latin typeface="Microsoft YaHei"/>
                <a:ea typeface="Microsoft YaHei"/>
                <a:cs typeface="Microsoft YaHei"/>
              </a:rPr>
              <a:t>；自动化测试阶段调用</a:t>
            </a:r>
            <a:r>
              <a:rPr sz="1120" b="1" lang="zh-CN" altLang="en-US">
                <a:solidFill>
                  <a:srgbClr val="0B7C86"/>
                </a:solidFill>
                <a:latin typeface="Microsoft YaHei"/>
                <a:ea typeface="Microsoft YaHei"/>
                <a:cs typeface="Microsoft YaHei"/>
              </a:rPr>
              <a:t>测控接口</a:t>
            </a:r>
            <a:r>
              <a:rPr sz="1120" b="0" lang="zh-CN" altLang="en-US">
                <a:solidFill>
                  <a:srgbClr val="4B5D72"/>
                </a:solidFill>
                <a:latin typeface="Microsoft YaHei"/>
                <a:ea typeface="Microsoft YaHei"/>
                <a:cs typeface="Microsoft YaHei"/>
              </a:rPr>
              <a:t>驱动目标机并回传测试数据。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397" y="441948"/>
            <a:ext cx="990575" cy="228594"/>
          </a:xfrm>
          <a:prstGeom prst="roundRect">
            <a:avLst>
              <a:gd name="adj" fmla="val 50000"/>
            </a:avLst>
          </a:prstGeom>
          <a:solidFill>
            <a:srgbClr val="FFF3EC"/>
          </a:solidFill>
          <a:ln w="8890">
            <a:solidFill>
              <a:srgbClr val="FF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7645" y="529576"/>
            <a:ext cx="53338" cy="5333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98132" y="441948"/>
            <a:ext cx="731501" cy="2285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lang="zh-CN" altLang="en-US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GitLab CI/CD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74410" y="441948"/>
            <a:ext cx="929616" cy="228594"/>
          </a:xfrm>
          <a:prstGeom prst="roundRect">
            <a:avLst>
              <a:gd name="adj" fmla="val 50000"/>
            </a:avLst>
          </a:prstGeom>
          <a:solidFill>
            <a:srgbClr val="EDFAFB"/>
          </a:solidFill>
          <a:ln w="8890">
            <a:solidFill>
              <a:srgbClr val="C9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69658" y="529576"/>
            <a:ext cx="53338" cy="53338"/>
          </a:xfrm>
          <a:prstGeom prst="ellipse">
            <a:avLst/>
          </a:prstGeom>
          <a:solidFill>
            <a:srgbClr val="0B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80145" y="441948"/>
            <a:ext cx="670543" cy="22859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lang="zh-CN" altLang="en-US">
                <a:solidFill>
                  <a:srgbClr val="0B7C86"/>
                </a:solidFill>
                <a:latin typeface="Microsoft YaHei"/>
                <a:ea typeface="Microsoft YaHei"/>
                <a:cs typeface="Microsoft YaHei"/>
              </a:rPr>
              <a:t>资源纳管平台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7667" y="1295367"/>
            <a:ext cx="11216360" cy="0"/>
          </a:xfrm>
          <a:prstGeom prst="line">
            <a:avLst/>
          </a:prstGeom>
          <a:ln w="889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7667" y="1424904"/>
            <a:ext cx="76198" cy="76198"/>
          </a:xfrm>
          <a:prstGeom prst="roundRect">
            <a:avLst>
              <a:gd name="adj" fmla="val 30000"/>
            </a:avLst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24" y="1386805"/>
            <a:ext cx="3047923" cy="121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lang="zh-CN" altLang="en-US" spc="80">
                <a:solidFill>
                  <a:srgbClr val="C2410C"/>
                </a:solidFill>
                <a:latin typeface="Bahnschrift"/>
                <a:ea typeface="Bahnschrift"/>
                <a:cs typeface="Bahnschrift"/>
              </a:rPr>
              <a:t>GITLAB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24" y="1501102"/>
            <a:ext cx="3047923" cy="10667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lang="zh-CN" altLang="en-US">
                <a:solidFill>
                  <a:srgbClr val="8A9AAE"/>
                </a:solidFill>
                <a:latin typeface="Microsoft YaHei"/>
                <a:ea typeface="Microsoft YaHei"/>
                <a:cs typeface="Microsoft YaHei"/>
              </a:rPr>
              <a:t>GitLab CI/CD · 5 jobs · 2 个资源集成点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667" y="2956486"/>
            <a:ext cx="11216359" cy="2118307"/>
          </a:xfrm>
          <a:prstGeom prst="roundRect">
            <a:avLst>
              <a:gd name="adj" fmla="val 5500"/>
            </a:avLst>
          </a:prstGeom>
          <a:solidFill>
            <a:srgbClr val="F2FAFB"/>
          </a:solidFill>
          <a:ln w="10160">
            <a:solidFill>
              <a:srgbClr val="C9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63" y="3063163"/>
            <a:ext cx="76198" cy="76198"/>
          </a:xfrm>
          <a:prstGeom prst="roundRect">
            <a:avLst>
              <a:gd name="adj" fmla="val 30000"/>
            </a:avLst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20" y="3025064"/>
            <a:ext cx="2590735" cy="1371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lang="zh-CN" altLang="en-US">
                <a:solidFill>
                  <a:srgbClr val="0B7C86"/>
                </a:solidFill>
                <a:latin typeface="Microsoft YaHei"/>
                <a:ea typeface="Microsoft YaHei"/>
                <a:cs typeface="Microsoft YaHei"/>
              </a:rPr>
              <a:t>资源纳管平台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20" y="3146981"/>
            <a:ext cx="3200319" cy="10667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lang="zh-CN" altLang="en-US">
                <a:solidFill>
                  <a:srgbClr val="8A9AAE"/>
                </a:solidFill>
                <a:latin typeface="Microsoft YaHei"/>
                <a:ea typeface="Microsoft YaHei"/>
                <a:cs typeface="Microsoft YaHei"/>
              </a:rPr>
              <a:t>API · 测控接口 · 资源池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67" y="5257668"/>
            <a:ext cx="11216359" cy="761980"/>
          </a:xfrm>
          <a:prstGeom prst="roundRect">
            <a:avLst>
              <a:gd name="adj" fmla="val 10000"/>
            </a:avLst>
          </a:prstGeom>
          <a:solidFill>
            <a:srgbClr val="0B1B2F"/>
          </a:solidFill>
          <a:ln w="8890">
            <a:solidFill>
              <a:srgbClr val="19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824" y="5272908"/>
            <a:ext cx="5608179" cy="15239"/>
          </a:xfrm>
          <a:prstGeom prst="rect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4" y="5272908"/>
            <a:ext cx="5333866" cy="15239"/>
          </a:xfrm>
          <a:prstGeom prst="rect">
            <a:avLst/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63" y="5356726"/>
            <a:ext cx="5791055" cy="19811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lang="zh-CN" altLang="en-US">
                <a:solidFill>
                  <a:srgbClr val="F1F7FC"/>
                </a:solidFill>
                <a:latin typeface="Microsoft YaHei"/>
                <a:ea typeface="Microsoft YaHei"/>
                <a:cs typeface="Microsoft YaHei"/>
              </a:rPr>
              <a:t>资源即服务 · 测控即接口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63" y="5547221"/>
            <a:ext cx="7467413" cy="2590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lang="zh-CN" altLang="en-US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Pipeline 与资源平台双向编排，测试过程自动控制、数据可追溯</a:t>
            </a:r>
          </a:p>
        </p:txBody>
      </p:sp>
      <p:sp>
        <p:nvSpPr>
          <p:cNvPr id="29" name="Oval 28"/>
          <p:cNvSpPr/>
          <p:nvPr/>
        </p:nvSpPr>
        <p:spPr>
          <a:xfrm>
            <a:off x="8583715" y="5421494"/>
            <a:ext cx="53338" cy="53338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1822" y="5379585"/>
            <a:ext cx="2971725" cy="1523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lang="zh-CN" altLang="en-US">
                <a:solidFill>
                  <a:srgbClr val="E8F0F8"/>
                </a:solidFill>
                <a:latin typeface="Microsoft YaHei"/>
                <a:ea typeface="Microsoft YaHei"/>
                <a:cs typeface="Microsoft YaHei"/>
              </a:rPr>
              <a:t>① 启动阶段 · 申请资源</a:t>
            </a:r>
          </a:p>
        </p:txBody>
      </p:sp>
      <p:sp>
        <p:nvSpPr>
          <p:cNvPr id="31" name="Oval 30"/>
          <p:cNvSpPr/>
          <p:nvPr/>
        </p:nvSpPr>
        <p:spPr>
          <a:xfrm>
            <a:off x="8583715" y="5650088"/>
            <a:ext cx="53338" cy="53338"/>
          </a:xfrm>
          <a:prstGeom prst="ellipse">
            <a:avLst/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1822" y="5608179"/>
            <a:ext cx="2971725" cy="1523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lang="zh-CN" altLang="en-US">
                <a:solidFill>
                  <a:srgbClr val="E8F0F8"/>
                </a:solidFill>
                <a:latin typeface="Microsoft YaHei"/>
                <a:ea typeface="Microsoft YaHei"/>
                <a:cs typeface="Microsoft YaHei"/>
              </a:rPr>
              <a:t>② 测试阶段 · 调用测控接口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67" y="6187285"/>
            <a:ext cx="7162620" cy="121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lang="zh-CN" altLang="en-US">
                <a:solidFill>
                  <a:srgbClr val="8A9AAE"/>
                </a:solidFill>
                <a:latin typeface="Microsoft YaHei"/>
                <a:ea typeface="Microsoft YaHei"/>
                <a:cs typeface="Microsoft YaHei"/>
              </a:rPr>
              <a:t>示意流程：GitLab Job 通过 API / 测控接口与资源纳管平台交互，作业名称可按实际 .gitlab-ci.yml 调整</a:t>
            </a:r>
          </a:p>
        </p:txBody>
      </p:sp>
      <p:grpSp>
        <p:nvGrpSpPr>
          <p:cNvPr id="34" name="S1 触发"/>
          <p:cNvGrpSpPr/>
          <p:nvPr/>
        </p:nvGrpSpPr>
        <p:grpSpPr>
          <a:xfrm>
            <a:off x="487667" y="1615399"/>
            <a:ext cx="2096971" cy="1142971"/>
            <a:chOff x="487667" y="1615399"/>
            <a:chExt cx="2096971" cy="1142971"/>
          </a:xfrm>
        </p:grpSpPr>
        <p:sp>
          <p:nvSpPr>
            <p:cNvPr id="35" name="Rounded Rectangle 34"/>
            <p:cNvSpPr/>
            <p:nvPr/>
          </p:nvSpPr>
          <p:spPr>
            <a:xfrm>
              <a:off x="487667" y="1615399"/>
              <a:ext cx="2096971" cy="1142971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0795">
              <a:solidFill>
                <a:srgbClr val="E3E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09584" y="1706837"/>
              <a:ext cx="1853137" cy="22859"/>
            </a:xfrm>
            <a:prstGeom prst="roundRect">
              <a:avLst>
                <a:gd name="adj" fmla="val 50000"/>
              </a:avLst>
            </a:prstGeom>
            <a:solidFill>
              <a:srgbClr val="FC6D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09584" y="1805894"/>
              <a:ext cx="198115" cy="198115"/>
            </a:xfrm>
            <a:prstGeom prst="roundRect">
              <a:avLst>
                <a:gd name="adj" fmla="val 22000"/>
              </a:avLst>
            </a:prstGeom>
            <a:solidFill>
              <a:srgbClr val="FFF3EC"/>
            </a:solidFill>
            <a:ln w="6985">
              <a:solidFill>
                <a:srgbClr val="FFD8C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09584" y="1805894"/>
              <a:ext cx="198115" cy="19811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lang="zh-CN" altLang="en-US" spc="15">
                  <a:solidFill>
                    <a:srgbClr val="C2410C"/>
                  </a:solidFill>
                  <a:latin typeface="Bahnschrift"/>
                  <a:ea typeface="Bahnschrift"/>
                  <a:cs typeface="Bahnschrift"/>
                </a:rPr>
                <a:t>01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68658" y="1843993"/>
              <a:ext cx="1068297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 lang="zh-CN" altLang="en-US">
                  <a:solidFill>
                    <a:srgbClr val="8A9AAE"/>
                  </a:solidFill>
                  <a:latin typeface="Consolas"/>
                  <a:ea typeface="Consolas"/>
                  <a:cs typeface="Consolas"/>
                </a:rPr>
                <a:t>trigger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9584" y="2042108"/>
              <a:ext cx="1853137" cy="18287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7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代码提交 / MR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9584" y="2240223"/>
              <a:ext cx="1853137" cy="28955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0" lang="zh-CN" altLang="en-US">
                  <a:solidFill>
                    <a:srgbClr val="63758A"/>
                  </a:solidFill>
                  <a:latin typeface="Microsoft YaHei"/>
                  <a:ea typeface="Microsoft YaHei"/>
                  <a:cs typeface="Microsoft YaHei"/>
                </a:rPr>
                <a:t>Git push · Merge Request
触发流水线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1517104" y="2670743"/>
              <a:ext cx="38099" cy="38099"/>
            </a:xfrm>
            <a:prstGeom prst="ellipse">
              <a:avLst/>
            </a:prstGeom>
            <a:solidFill>
              <a:srgbClr val="FC6D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S2 申请资源"/>
          <p:cNvGrpSpPr/>
          <p:nvPr/>
        </p:nvGrpSpPr>
        <p:grpSpPr>
          <a:xfrm>
            <a:off x="2615118" y="1615399"/>
            <a:ext cx="2249367" cy="2773611"/>
            <a:chOff x="2615118" y="1615399"/>
            <a:chExt cx="2249367" cy="2773611"/>
          </a:xfrm>
        </p:grpSpPr>
        <p:cxnSp>
          <p:nvCxnSpPr>
            <p:cNvPr id="44" name="Connector 43"/>
            <p:cNvCxnSpPr/>
            <p:nvPr/>
          </p:nvCxnSpPr>
          <p:spPr>
            <a:xfrm>
              <a:off x="2615118" y="2186885"/>
              <a:ext cx="121917" cy="0"/>
            </a:xfrm>
            <a:prstGeom prst="line">
              <a:avLst/>
            </a:prstGeom>
            <a:ln w="19050">
              <a:solidFill>
                <a:srgbClr val="F2A36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2767514" y="1615399"/>
              <a:ext cx="2096971" cy="1142971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524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2889431" y="1706837"/>
              <a:ext cx="1853137" cy="22859"/>
            </a:xfrm>
            <a:prstGeom prst="roundRect">
              <a:avLst>
                <a:gd name="adj" fmla="val 50000"/>
              </a:avLst>
            </a:prstGeom>
            <a:solidFill>
              <a:srgbClr val="FC6D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889431" y="1805894"/>
              <a:ext cx="198115" cy="198115"/>
            </a:xfrm>
            <a:prstGeom prst="roundRect">
              <a:avLst>
                <a:gd name="adj" fmla="val 22000"/>
              </a:avLst>
            </a:prstGeom>
            <a:solidFill>
              <a:srgbClr val="FFF3EC"/>
            </a:solidFill>
            <a:ln w="6985">
              <a:solidFill>
                <a:srgbClr val="FFD8C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889431" y="1805894"/>
              <a:ext cx="198115" cy="19811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lang="zh-CN" altLang="en-US" spc="15">
                  <a:solidFill>
                    <a:srgbClr val="C2410C"/>
                  </a:solidFill>
                  <a:latin typeface="Bahnschrift"/>
                  <a:ea typeface="Bahnschrift"/>
                  <a:cs typeface="Bahnschrift"/>
                </a:rPr>
                <a:t>02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148505" y="1843993"/>
              <a:ext cx="1068297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 lang="zh-CN" altLang="en-US">
                  <a:solidFill>
                    <a:srgbClr val="8A9AAE"/>
                  </a:solidFill>
                  <a:latin typeface="Consolas"/>
                  <a:ea typeface="Consolas"/>
                  <a:cs typeface="Consolas"/>
                </a:rPr>
                <a:t>resource:apply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4239662" y="1805894"/>
              <a:ext cx="502907" cy="152396"/>
            </a:xfrm>
            <a:prstGeom prst="roundRect">
              <a:avLst>
                <a:gd name="adj" fmla="val 50000"/>
              </a:avLst>
            </a:prstGeom>
            <a:solidFill>
              <a:srgbClr val="EDFAFB"/>
            </a:solidFill>
            <a:ln w="762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19" rIns="761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lang="zh-CN" altLang="en-US">
                  <a:solidFill>
                    <a:srgbClr val="0B7C86"/>
                  </a:solidFill>
                  <a:latin typeface="Microsoft YaHei"/>
                  <a:ea typeface="Microsoft YaHei"/>
                  <a:cs typeface="Microsoft YaHei"/>
                </a:rPr>
                <a:t>资源纳管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889431" y="2042108"/>
              <a:ext cx="1853137" cy="18287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7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申请资源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889431" y="2240223"/>
              <a:ext cx="1853137" cy="28955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0" lang="zh-CN" altLang="en-US">
                  <a:solidFill>
                    <a:srgbClr val="63758A"/>
                  </a:solidFill>
                  <a:latin typeface="Microsoft YaHei"/>
                  <a:ea typeface="Microsoft YaHei"/>
                  <a:cs typeface="Microsoft YaHei"/>
                </a:rPr>
                <a:t>目标机 / 时段 / 构型
调用资源纳管 API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3796951" y="2670743"/>
              <a:ext cx="38099" cy="38099"/>
            </a:xfrm>
            <a:prstGeom prst="ellipse">
              <a:avLst/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3816000" y="2758371"/>
              <a:ext cx="0" cy="640064"/>
            </a:xfrm>
            <a:prstGeom prst="line">
              <a:avLst/>
            </a:prstGeom>
            <a:ln w="22860">
              <a:solidFill>
                <a:srgbClr val="0D9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ounded Rectangle 54"/>
            <p:cNvSpPr/>
            <p:nvPr/>
          </p:nvSpPr>
          <p:spPr>
            <a:xfrm>
              <a:off x="3419770" y="3002204"/>
              <a:ext cx="792460" cy="14477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19" rIns="761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1" lang="zh-CN" altLang="en-US">
                  <a:solidFill>
                    <a:srgbClr val="0B7C86"/>
                  </a:solidFill>
                  <a:latin typeface="Microsoft YaHei"/>
                  <a:ea typeface="Microsoft YaHei"/>
                  <a:cs typeface="Microsoft YaHei"/>
                </a:rPr>
                <a:t>API 申请资源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2767514" y="3398435"/>
              <a:ext cx="2096971" cy="990575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1016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2866572" y="3520351"/>
              <a:ext cx="60958" cy="60958"/>
            </a:xfrm>
            <a:prstGeom prst="ellipse">
              <a:avLst/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574933" y="3497492"/>
              <a:ext cx="182875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lang="zh-CN" altLang="en-US" spc="10">
                  <a:solidFill>
                    <a:srgbClr val="0B7C86"/>
                  </a:solidFill>
                  <a:latin typeface="Bahnschrift"/>
                  <a:ea typeface="Bahnschrift"/>
                  <a:cs typeface="Bahnschrift"/>
                </a:rPr>
                <a:t>01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889431" y="3642268"/>
              <a:ext cx="1853137" cy="19049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申请 · 校验 · 预约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889431" y="3863243"/>
              <a:ext cx="1853137" cy="2285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0" lang="zh-CN" altLang="en-US">
                  <a:solidFill>
                    <a:srgbClr val="63758A"/>
                  </a:solidFill>
                  <a:latin typeface="Microsoft YaHei"/>
                  <a:ea typeface="Microsoft YaHei"/>
                  <a:cs typeface="Microsoft YaHei"/>
                </a:rPr>
                <a:t>选择目标机 / 时段 / 构型
可用性校验后锁定资源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2889431" y="4152796"/>
              <a:ext cx="548626" cy="137156"/>
            </a:xfrm>
            <a:prstGeom prst="roundRect">
              <a:avLst>
                <a:gd name="adj" fmla="val 50000"/>
              </a:avLst>
            </a:prstGeom>
            <a:solidFill>
              <a:srgbClr val="EDFAFB"/>
            </a:solidFill>
            <a:ln w="762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19" rIns="761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10" b="1" lang="zh-CN" altLang="en-US">
                  <a:solidFill>
                    <a:srgbClr val="0B7C86"/>
                  </a:solidFill>
                  <a:latin typeface="Microsoft YaHei"/>
                  <a:ea typeface="Microsoft YaHei"/>
                  <a:cs typeface="Microsoft YaHei"/>
                </a:rPr>
                <a:t>API 受理</a:t>
              </a:r>
            </a:p>
          </p:txBody>
        </p:sp>
      </p:grpSp>
      <p:grpSp>
        <p:nvGrpSpPr>
          <p:cNvPr id="62" name="S3 构建部署"/>
          <p:cNvGrpSpPr/>
          <p:nvPr/>
        </p:nvGrpSpPr>
        <p:grpSpPr>
          <a:xfrm>
            <a:off x="4894965" y="1615399"/>
            <a:ext cx="2249367" cy="2773611"/>
            <a:chOff x="4894965" y="1615399"/>
            <a:chExt cx="2249367" cy="2773611"/>
          </a:xfrm>
        </p:grpSpPr>
        <p:cxnSp>
          <p:nvCxnSpPr>
            <p:cNvPr id="63" name="Connector 62"/>
            <p:cNvCxnSpPr/>
            <p:nvPr/>
          </p:nvCxnSpPr>
          <p:spPr>
            <a:xfrm>
              <a:off x="4894965" y="2186885"/>
              <a:ext cx="121917" cy="0"/>
            </a:xfrm>
            <a:prstGeom prst="line">
              <a:avLst/>
            </a:prstGeom>
            <a:ln w="19050">
              <a:solidFill>
                <a:srgbClr val="F2A36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ounded Rectangle 63"/>
            <p:cNvSpPr/>
            <p:nvPr/>
          </p:nvSpPr>
          <p:spPr>
            <a:xfrm>
              <a:off x="5047361" y="1615399"/>
              <a:ext cx="2096971" cy="1142971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0795">
              <a:solidFill>
                <a:srgbClr val="E3E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5169278" y="1706837"/>
              <a:ext cx="1853137" cy="22859"/>
            </a:xfrm>
            <a:prstGeom prst="roundRect">
              <a:avLst>
                <a:gd name="adj" fmla="val 50000"/>
              </a:avLst>
            </a:prstGeom>
            <a:solidFill>
              <a:srgbClr val="FC6D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5169278" y="1805894"/>
              <a:ext cx="198115" cy="198115"/>
            </a:xfrm>
            <a:prstGeom prst="roundRect">
              <a:avLst>
                <a:gd name="adj" fmla="val 22000"/>
              </a:avLst>
            </a:prstGeom>
            <a:solidFill>
              <a:srgbClr val="FFF3EC"/>
            </a:solidFill>
            <a:ln w="6985">
              <a:solidFill>
                <a:srgbClr val="FFD8C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169278" y="1805894"/>
              <a:ext cx="198115" cy="19811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lang="zh-CN" altLang="en-US" spc="15">
                  <a:solidFill>
                    <a:srgbClr val="C2410C"/>
                  </a:solidFill>
                  <a:latin typeface="Bahnschrift"/>
                  <a:ea typeface="Bahnschrift"/>
                  <a:cs typeface="Bahnschrift"/>
                </a:rPr>
                <a:t>03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428352" y="1843993"/>
              <a:ext cx="1068297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 lang="zh-CN" altLang="en-US">
                  <a:solidFill>
                    <a:srgbClr val="8A9AAE"/>
                  </a:solidFill>
                  <a:latin typeface="Consolas"/>
                  <a:ea typeface="Consolas"/>
                  <a:cs typeface="Consolas"/>
                </a:rPr>
                <a:t>build:deploy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169278" y="2042108"/>
              <a:ext cx="1853137" cy="18287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7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构建与部署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169278" y="2240223"/>
              <a:ext cx="1853137" cy="28955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0" lang="zh-CN" altLang="en-US">
                  <a:solidFill>
                    <a:srgbClr val="63758A"/>
                  </a:solidFill>
                  <a:latin typeface="Microsoft YaHei"/>
                  <a:ea typeface="Microsoft YaHei"/>
                  <a:cs typeface="Microsoft YaHei"/>
                </a:rPr>
                <a:t>编译打包 · 制品归档
按构型下发工程与工具</a:t>
              </a:r>
            </a:p>
          </p:txBody>
        </p:sp>
        <p:sp>
          <p:nvSpPr>
            <p:cNvPr id="71" name="Oval 70"/>
            <p:cNvSpPr/>
            <p:nvPr/>
          </p:nvSpPr>
          <p:spPr>
            <a:xfrm>
              <a:off x="6076798" y="2670743"/>
              <a:ext cx="38099" cy="38099"/>
            </a:xfrm>
            <a:prstGeom prst="ellipse">
              <a:avLst/>
            </a:prstGeom>
            <a:solidFill>
              <a:srgbClr val="FC6D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5047361" y="3398435"/>
              <a:ext cx="2096971" cy="990575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1016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5146419" y="3520351"/>
              <a:ext cx="60958" cy="60958"/>
            </a:xfrm>
            <a:prstGeom prst="ellipse">
              <a:avLst/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854780" y="3497492"/>
              <a:ext cx="182875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lang="zh-CN" altLang="en-US" spc="10">
                  <a:solidFill>
                    <a:srgbClr val="0B7C86"/>
                  </a:solidFill>
                  <a:latin typeface="Bahnschrift"/>
                  <a:ea typeface="Bahnschrift"/>
                  <a:cs typeface="Bahnschrift"/>
                </a:rPr>
                <a:t>02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169278" y="3642268"/>
              <a:ext cx="1853137" cy="19049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目标机 / 构型就绪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169278" y="3863243"/>
              <a:ext cx="1853137" cy="2285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0" lang="zh-CN" altLang="en-US">
                  <a:solidFill>
                    <a:srgbClr val="63758A"/>
                  </a:solidFill>
                  <a:latin typeface="Microsoft YaHei"/>
                  <a:ea typeface="Microsoft YaHei"/>
                  <a:cs typeface="Microsoft YaHei"/>
                </a:rPr>
                <a:t>资源锁定 · 自动部署
工程、工具、连接关系生效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5169278" y="4152796"/>
              <a:ext cx="548626" cy="137156"/>
            </a:xfrm>
            <a:prstGeom prst="roundRect">
              <a:avLst>
                <a:gd name="adj" fmla="val 50000"/>
              </a:avLst>
            </a:prstGeom>
            <a:solidFill>
              <a:srgbClr val="EDFAFB"/>
            </a:solidFill>
            <a:ln w="762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19" rIns="761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10" b="1" lang="zh-CN" altLang="en-US">
                  <a:solidFill>
                    <a:srgbClr val="0B7C86"/>
                  </a:solidFill>
                  <a:latin typeface="Microsoft YaHei"/>
                  <a:ea typeface="Microsoft YaHei"/>
                  <a:cs typeface="Microsoft YaHei"/>
                </a:rPr>
                <a:t>就绪</a:t>
              </a:r>
            </a:p>
          </p:txBody>
        </p:sp>
        <p:cxnSp>
          <p:nvCxnSpPr>
            <p:cNvPr id="78" name="Connector 77"/>
            <p:cNvCxnSpPr/>
            <p:nvPr/>
          </p:nvCxnSpPr>
          <p:spPr>
            <a:xfrm>
              <a:off x="4894965" y="3893722"/>
              <a:ext cx="121917" cy="0"/>
            </a:xfrm>
            <a:prstGeom prst="line">
              <a:avLst/>
            </a:prstGeom>
            <a:ln w="17780">
              <a:solidFill>
                <a:srgbClr val="0D9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S4 自动化测试"/>
          <p:cNvGrpSpPr/>
          <p:nvPr/>
        </p:nvGrpSpPr>
        <p:grpSpPr>
          <a:xfrm>
            <a:off x="7174812" y="1615399"/>
            <a:ext cx="2249367" cy="3215560"/>
            <a:chOff x="7174812" y="1615399"/>
            <a:chExt cx="2249367" cy="3215560"/>
          </a:xfrm>
        </p:grpSpPr>
        <p:cxnSp>
          <p:nvCxnSpPr>
            <p:cNvPr id="80" name="Connector 79"/>
            <p:cNvCxnSpPr/>
            <p:nvPr/>
          </p:nvCxnSpPr>
          <p:spPr>
            <a:xfrm>
              <a:off x="7174812" y="2186885"/>
              <a:ext cx="121917" cy="0"/>
            </a:xfrm>
            <a:prstGeom prst="line">
              <a:avLst/>
            </a:prstGeom>
            <a:ln w="19050">
              <a:solidFill>
                <a:srgbClr val="F2A36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ounded Rectangle 80"/>
            <p:cNvSpPr/>
            <p:nvPr/>
          </p:nvSpPr>
          <p:spPr>
            <a:xfrm>
              <a:off x="7327208" y="1615399"/>
              <a:ext cx="2096971" cy="1142971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524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7449125" y="1706837"/>
              <a:ext cx="1853137" cy="22859"/>
            </a:xfrm>
            <a:prstGeom prst="roundRect">
              <a:avLst>
                <a:gd name="adj" fmla="val 50000"/>
              </a:avLst>
            </a:prstGeom>
            <a:solidFill>
              <a:srgbClr val="FC6D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7449125" y="1805894"/>
              <a:ext cx="198115" cy="198115"/>
            </a:xfrm>
            <a:prstGeom prst="roundRect">
              <a:avLst>
                <a:gd name="adj" fmla="val 22000"/>
              </a:avLst>
            </a:prstGeom>
            <a:solidFill>
              <a:srgbClr val="FFF3EC"/>
            </a:solidFill>
            <a:ln w="6985">
              <a:solidFill>
                <a:srgbClr val="FFD8C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449125" y="1805894"/>
              <a:ext cx="198115" cy="19811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lang="zh-CN" altLang="en-US" spc="15">
                  <a:solidFill>
                    <a:srgbClr val="C2410C"/>
                  </a:solidFill>
                  <a:latin typeface="Bahnschrift"/>
                  <a:ea typeface="Bahnschrift"/>
                  <a:cs typeface="Bahnschrift"/>
                </a:rPr>
                <a:t>04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708199" y="1843993"/>
              <a:ext cx="1068297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 lang="zh-CN" altLang="en-US">
                  <a:solidFill>
                    <a:srgbClr val="8A9AAE"/>
                  </a:solidFill>
                  <a:latin typeface="Consolas"/>
                  <a:ea typeface="Consolas"/>
                  <a:cs typeface="Consolas"/>
                </a:rPr>
                <a:t>test:hil</a:t>
              </a:r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8799356" y="1805894"/>
              <a:ext cx="502907" cy="152396"/>
            </a:xfrm>
            <a:prstGeom prst="roundRect">
              <a:avLst>
                <a:gd name="adj" fmla="val 50000"/>
              </a:avLst>
            </a:prstGeom>
            <a:solidFill>
              <a:srgbClr val="EDFAFB"/>
            </a:solidFill>
            <a:ln w="762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19" rIns="761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lang="zh-CN" altLang="en-US">
                  <a:solidFill>
                    <a:srgbClr val="0B7C86"/>
                  </a:solidFill>
                  <a:latin typeface="Microsoft YaHei"/>
                  <a:ea typeface="Microsoft YaHei"/>
                  <a:cs typeface="Microsoft YaHei"/>
                </a:rPr>
                <a:t>测控接口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449125" y="2042108"/>
              <a:ext cx="1853137" cy="18287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7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自动化测试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449125" y="2240223"/>
              <a:ext cx="1853137" cy="28955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0" lang="zh-CN" altLang="en-US">
                  <a:solidFill>
                    <a:srgbClr val="63758A"/>
                  </a:solidFill>
                  <a:latin typeface="Microsoft YaHei"/>
                  <a:ea typeface="Microsoft YaHei"/>
                  <a:cs typeface="Microsoft YaHei"/>
                </a:rPr>
                <a:t>调用测控接口驱动目标机
执行 HIL / 自动化测试</a:t>
              </a:r>
            </a:p>
          </p:txBody>
        </p:sp>
        <p:sp>
          <p:nvSpPr>
            <p:cNvPr id="89" name="Oval 88"/>
            <p:cNvSpPr/>
            <p:nvPr/>
          </p:nvSpPr>
          <p:spPr>
            <a:xfrm>
              <a:off x="8356645" y="2670743"/>
              <a:ext cx="38099" cy="38099"/>
            </a:xfrm>
            <a:prstGeom prst="ellipse">
              <a:avLst/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0" name="Connector 89"/>
            <p:cNvCxnSpPr/>
            <p:nvPr/>
          </p:nvCxnSpPr>
          <p:spPr>
            <a:xfrm>
              <a:off x="8375694" y="2758371"/>
              <a:ext cx="0" cy="640064"/>
            </a:xfrm>
            <a:prstGeom prst="line">
              <a:avLst/>
            </a:prstGeom>
            <a:ln w="22860">
              <a:solidFill>
                <a:srgbClr val="0D9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>
              <a:off x="8032803" y="3002204"/>
              <a:ext cx="685782" cy="14477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19" rIns="761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1" lang="zh-CN" altLang="en-US">
                  <a:solidFill>
                    <a:srgbClr val="0B7C86"/>
                  </a:solidFill>
                  <a:latin typeface="Microsoft YaHei"/>
                  <a:ea typeface="Microsoft YaHei"/>
                  <a:cs typeface="Microsoft YaHei"/>
                </a:rPr>
                <a:t>测控接口</a:t>
              </a:r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7327208" y="3398435"/>
              <a:ext cx="2096971" cy="990575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1016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7426266" y="3520351"/>
              <a:ext cx="60958" cy="60958"/>
            </a:xfrm>
            <a:prstGeom prst="ellipse">
              <a:avLst/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134627" y="3497492"/>
              <a:ext cx="182875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lang="zh-CN" altLang="en-US" spc="10">
                  <a:solidFill>
                    <a:srgbClr val="0B7C86"/>
                  </a:solidFill>
                  <a:latin typeface="Bahnschrift"/>
                  <a:ea typeface="Bahnschrift"/>
                  <a:cs typeface="Bahnschrift"/>
                </a:rPr>
                <a:t>03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449125" y="3642268"/>
              <a:ext cx="1853137" cy="19049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测控接口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7449125" y="3863243"/>
              <a:ext cx="1853137" cy="2285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0" lang="zh-CN" altLang="en-US">
                  <a:solidFill>
                    <a:srgbClr val="63758A"/>
                  </a:solidFill>
                  <a:latin typeface="Microsoft YaHei"/>
                  <a:ea typeface="Microsoft YaHei"/>
                  <a:cs typeface="Microsoft YaHei"/>
                </a:rPr>
                <a:t>供电 / 离散量 / 串口
远程控制与状态回传</a:t>
              </a:r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7449125" y="4152796"/>
              <a:ext cx="548626" cy="137156"/>
            </a:xfrm>
            <a:prstGeom prst="roundRect">
              <a:avLst>
                <a:gd name="adj" fmla="val 50000"/>
              </a:avLst>
            </a:prstGeom>
            <a:solidFill>
              <a:srgbClr val="EDFAFB"/>
            </a:solidFill>
            <a:ln w="762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19" rIns="761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10" b="1" lang="zh-CN" altLang="en-US">
                  <a:solidFill>
                    <a:srgbClr val="0B7C86"/>
                  </a:solidFill>
                  <a:latin typeface="Microsoft YaHei"/>
                  <a:ea typeface="Microsoft YaHei"/>
                  <a:cs typeface="Microsoft YaHei"/>
                </a:rPr>
                <a:t>远程控制</a:t>
              </a:r>
            </a:p>
          </p:txBody>
        </p:sp>
        <p:cxnSp>
          <p:nvCxnSpPr>
            <p:cNvPr id="98" name="Connector 97"/>
            <p:cNvCxnSpPr/>
            <p:nvPr/>
          </p:nvCxnSpPr>
          <p:spPr>
            <a:xfrm>
              <a:off x="7174812" y="3893722"/>
              <a:ext cx="121917" cy="0"/>
            </a:xfrm>
            <a:prstGeom prst="line">
              <a:avLst/>
            </a:prstGeom>
            <a:ln w="17780">
              <a:solidFill>
                <a:srgbClr val="0D9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/>
            <p:cNvSpPr/>
            <p:nvPr/>
          </p:nvSpPr>
          <p:spPr>
            <a:xfrm>
              <a:off x="7327208" y="4556646"/>
              <a:ext cx="2096971" cy="274313"/>
            </a:xfrm>
            <a:prstGeom prst="roundRect">
              <a:avLst>
                <a:gd name="adj" fmla="val 50000"/>
              </a:avLst>
            </a:prstGeom>
            <a:solidFill>
              <a:srgbClr val="0B1B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7437696" y="4667133"/>
              <a:ext cx="53338" cy="53338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555803" y="4556646"/>
              <a:ext cx="1776939" cy="274313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1" lang="zh-CN" altLang="en-US">
                  <a:solidFill>
                    <a:srgbClr val="F1F7FC"/>
                  </a:solidFill>
                  <a:latin typeface="Microsoft YaHei"/>
                  <a:ea typeface="Microsoft YaHei"/>
                  <a:cs typeface="Microsoft YaHei"/>
                </a:rPr>
                <a:t>目标机 / 被测系统</a:t>
              </a:r>
            </a:p>
          </p:txBody>
        </p:sp>
        <p:cxnSp>
          <p:nvCxnSpPr>
            <p:cNvPr id="102" name="Connector 101"/>
            <p:cNvCxnSpPr/>
            <p:nvPr/>
          </p:nvCxnSpPr>
          <p:spPr>
            <a:xfrm>
              <a:off x="8375694" y="4389010"/>
              <a:ext cx="0" cy="167636"/>
            </a:xfrm>
            <a:prstGeom prst="line">
              <a:avLst/>
            </a:prstGeom>
            <a:ln w="16510">
              <a:solidFill>
                <a:srgbClr val="0D9BA8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/>
            <p:cNvSpPr txBox="1"/>
            <p:nvPr/>
          </p:nvSpPr>
          <p:spPr>
            <a:xfrm>
              <a:off x="8436653" y="4404249"/>
              <a:ext cx="685782" cy="114297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10" b="0" lang="zh-CN" altLang="en-US">
                  <a:solidFill>
                    <a:srgbClr val="0B7C86"/>
                  </a:solidFill>
                  <a:latin typeface="Microsoft YaHei"/>
                  <a:ea typeface="Microsoft YaHei"/>
                  <a:cs typeface="Microsoft YaHei"/>
                </a:rPr>
                <a:t>控制 / 状态</a:t>
              </a:r>
            </a:p>
          </p:txBody>
        </p:sp>
      </p:grpSp>
      <p:grpSp>
        <p:nvGrpSpPr>
          <p:cNvPr id="104" name="S5 报告释放"/>
          <p:cNvGrpSpPr/>
          <p:nvPr/>
        </p:nvGrpSpPr>
        <p:grpSpPr>
          <a:xfrm>
            <a:off x="9454659" y="1615399"/>
            <a:ext cx="2249367" cy="2773611"/>
            <a:chOff x="9454659" y="1615399"/>
            <a:chExt cx="2249367" cy="2773611"/>
          </a:xfrm>
        </p:grpSpPr>
        <p:cxnSp>
          <p:nvCxnSpPr>
            <p:cNvPr id="105" name="Connector 104"/>
            <p:cNvCxnSpPr/>
            <p:nvPr/>
          </p:nvCxnSpPr>
          <p:spPr>
            <a:xfrm>
              <a:off x="9454659" y="2186885"/>
              <a:ext cx="121917" cy="0"/>
            </a:xfrm>
            <a:prstGeom prst="line">
              <a:avLst/>
            </a:prstGeom>
            <a:ln w="19050">
              <a:solidFill>
                <a:srgbClr val="F2A36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ounded Rectangle 105"/>
            <p:cNvSpPr/>
            <p:nvPr/>
          </p:nvSpPr>
          <p:spPr>
            <a:xfrm>
              <a:off x="9607055" y="1615399"/>
              <a:ext cx="2096971" cy="1142971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0795">
              <a:solidFill>
                <a:srgbClr val="E3E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9728972" y="1706837"/>
              <a:ext cx="1853137" cy="22859"/>
            </a:xfrm>
            <a:prstGeom prst="roundRect">
              <a:avLst>
                <a:gd name="adj" fmla="val 50000"/>
              </a:avLst>
            </a:prstGeom>
            <a:solidFill>
              <a:srgbClr val="FC6D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Rounded Rectangle 107"/>
            <p:cNvSpPr/>
            <p:nvPr/>
          </p:nvSpPr>
          <p:spPr>
            <a:xfrm>
              <a:off x="9728972" y="1805894"/>
              <a:ext cx="198115" cy="198115"/>
            </a:xfrm>
            <a:prstGeom prst="roundRect">
              <a:avLst>
                <a:gd name="adj" fmla="val 22000"/>
              </a:avLst>
            </a:prstGeom>
            <a:solidFill>
              <a:srgbClr val="FFF3EC"/>
            </a:solidFill>
            <a:ln w="6985">
              <a:solidFill>
                <a:srgbClr val="FFD8C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728972" y="1805894"/>
              <a:ext cx="198115" cy="19811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 lang="zh-CN" altLang="en-US" spc="15">
                  <a:solidFill>
                    <a:srgbClr val="C2410C"/>
                  </a:solidFill>
                  <a:latin typeface="Bahnschrift"/>
                  <a:ea typeface="Bahnschrift"/>
                  <a:cs typeface="Bahnschrift"/>
                </a:rPr>
                <a:t>05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9988046" y="1843993"/>
              <a:ext cx="1068297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 lang="zh-CN" altLang="en-US">
                  <a:solidFill>
                    <a:srgbClr val="8A9AAE"/>
                  </a:solidFill>
                  <a:latin typeface="Consolas"/>
                  <a:ea typeface="Consolas"/>
                  <a:cs typeface="Consolas"/>
                </a:rPr>
                <a:t>report:cleanup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728972" y="2042108"/>
              <a:ext cx="1853137" cy="18287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7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报告与释放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9728972" y="2240223"/>
              <a:ext cx="1853137" cy="28955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0" lang="zh-CN" altLang="en-US">
                  <a:solidFill>
                    <a:srgbClr val="63758A"/>
                  </a:solidFill>
                  <a:latin typeface="Microsoft YaHei"/>
                  <a:ea typeface="Microsoft YaHei"/>
                  <a:cs typeface="Microsoft YaHei"/>
                </a:rPr>
                <a:t>结果回传 · 报告归档
释放资源并回池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636492" y="2670743"/>
              <a:ext cx="38099" cy="38099"/>
            </a:xfrm>
            <a:prstGeom prst="ellipse">
              <a:avLst/>
            </a:prstGeom>
            <a:solidFill>
              <a:srgbClr val="FC6D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>
              <a:off x="9607055" y="3398435"/>
              <a:ext cx="2096971" cy="990575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1016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9706113" y="3520351"/>
              <a:ext cx="60958" cy="60958"/>
            </a:xfrm>
            <a:prstGeom prst="ellipse">
              <a:avLst/>
            </a:prstGeom>
            <a:solidFill>
              <a:srgbClr val="0D9B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1414474" y="3497492"/>
              <a:ext cx="182875" cy="1219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lang="zh-CN" altLang="en-US" spc="10">
                  <a:solidFill>
                    <a:srgbClr val="0B7C86"/>
                  </a:solidFill>
                  <a:latin typeface="Bahnschrift"/>
                  <a:ea typeface="Bahnschrift"/>
                  <a:cs typeface="Bahnschrift"/>
                </a:rPr>
                <a:t>04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728972" y="3642268"/>
              <a:ext cx="1853137" cy="190495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lang="zh-CN" altLang="en-US">
                  <a:solidFill>
                    <a:srgbClr val="10243A"/>
                  </a:solidFill>
                  <a:latin typeface="Microsoft YaHei"/>
                  <a:ea typeface="Microsoft YaHei"/>
                  <a:cs typeface="Microsoft YaHei"/>
                </a:rPr>
                <a:t>释放 · 回池 · 看板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9728972" y="3863243"/>
              <a:ext cx="1853137" cy="2285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0" lang="zh-CN" altLang="en-US">
                  <a:solidFill>
                    <a:srgbClr val="63758A"/>
                  </a:solidFill>
                  <a:latin typeface="Microsoft YaHei"/>
                  <a:ea typeface="Microsoft YaHei"/>
                  <a:cs typeface="Microsoft YaHei"/>
                </a:rPr>
                <a:t>释放占用资源 · 恢复可调度
利用率与占用时长更新</a:t>
              </a:r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9728972" y="4152796"/>
              <a:ext cx="548626" cy="137156"/>
            </a:xfrm>
            <a:prstGeom prst="roundRect">
              <a:avLst>
                <a:gd name="adj" fmla="val 50000"/>
              </a:avLst>
            </a:prstGeom>
            <a:solidFill>
              <a:srgbClr val="EDFAFB"/>
            </a:solidFill>
            <a:ln w="7620">
              <a:solidFill>
                <a:srgbClr val="C9ED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19" rIns="7619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10" b="1" lang="zh-CN" altLang="en-US">
                  <a:solidFill>
                    <a:srgbClr val="0B7C86"/>
                  </a:solidFill>
                  <a:latin typeface="Microsoft YaHei"/>
                  <a:ea typeface="Microsoft YaHei"/>
                  <a:cs typeface="Microsoft YaHei"/>
                </a:rPr>
                <a:t>资源闭环</a:t>
              </a:r>
            </a:p>
          </p:txBody>
        </p:sp>
        <p:cxnSp>
          <p:nvCxnSpPr>
            <p:cNvPr id="120" name="Connector 119"/>
            <p:cNvCxnSpPr/>
            <p:nvPr/>
          </p:nvCxnSpPr>
          <p:spPr>
            <a:xfrm>
              <a:off x="9454659" y="3893722"/>
              <a:ext cx="121917" cy="0"/>
            </a:xfrm>
            <a:prstGeom prst="line">
              <a:avLst/>
            </a:prstGeom>
            <a:ln w="17780">
              <a:solidFill>
                <a:srgbClr val="0D9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20"/>
            <p:cNvSpPr/>
            <p:nvPr/>
          </p:nvSpPr>
          <p:spPr>
            <a:xfrm>
              <a:off x="9957567" y="1965910"/>
              <a:ext cx="106677" cy="106677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2" name="Connector 121"/>
            <p:cNvCxnSpPr/>
            <p:nvPr/>
          </p:nvCxnSpPr>
          <p:spPr>
            <a:xfrm>
              <a:off x="9983474" y="2019249"/>
              <a:ext cx="19811" cy="20574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 flipV="1">
              <a:off x="10003285" y="1993342"/>
              <a:ext cx="39623" cy="46481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GitLab 流水线资源纳管集成流程</dc:title>
  <dc:subject>GitLab CI/CD 与资源纳管平台集成</dc:subject>
  <dc:creator>ResNexus</dc:creator>
  <cp:keywords>GitLab, CI/CD, 流水线, 资源纳管, 测控接口, 自动化测试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