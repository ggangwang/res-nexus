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【操作】本页是原生 PowerPoint 分步动画，共 6 次点击，不自动播放。</a:t>
            </a:r>
          </a:p>
          <a:p>
            <a:r>
              <a:t>初始显示：标题、结论、四张阶段卡外壳、运行底座标题与网络域。</a:t>
            </a:r>
          </a:p>
          <a:p/>
          <a:p>
            <a:r>
              <a:t>【第 1 次点击｜统一入口】</a:t>
            </a:r>
          </a:p>
          <a:p>
            <a:r>
              <a:t>统一认证后按角色分流：系统管理员配置权限/字典/日志，资源管理员录入硬件/工具/连接关系，普通用户创建构型/上传工程，三类数据汇成“基础数据就绪”。</a:t>
            </a:r>
          </a:p>
          <a:p/>
          <a:p>
            <a:r>
              <a:t>【第 2 次点击｜校验前置】</a:t>
            </a:r>
          </a:p>
          <a:p>
            <a:r>
              <a:t>用户按目标机、时段、构型发起申请；系统先做可用性校验，不通过就沿虚线回流、返回调整，避免把冲突留到部署阶段。</a:t>
            </a:r>
          </a:p>
          <a:p/>
          <a:p>
            <a:r>
              <a:t>【第 3 次点击｜通过并预约】</a:t>
            </a:r>
          </a:p>
          <a:p>
            <a:r>
              <a:t>校验通过，预约生效。强调：先把资源可用性和冲突校清楚，再锁定时段。</a:t>
            </a:r>
          </a:p>
          <a:p/>
          <a:p>
            <a:r>
              <a:t>【第 4 次点击｜自动部署】</a:t>
            </a:r>
          </a:p>
          <a:p>
            <a:r>
              <a:t>预约时间到达后按构型自动下发工具与工程，进入使用状态并实时监控。</a:t>
            </a:r>
          </a:p>
          <a:p/>
          <a:p>
            <a:r>
              <a:t>【第 5 次点击｜回池复用】</a:t>
            </a:r>
          </a:p>
          <a:p>
            <a:r>
              <a:t>使用结束释放资源，资源回池、恢复可调度，看板更新利用率和占用时长，形成下一轮可预约状态。</a:t>
            </a:r>
          </a:p>
          <a:p/>
          <a:p>
            <a:r>
              <a:t>【第 6 次点击｜运行底座闭环】</a:t>
            </a:r>
          </a:p>
          <a:p>
            <a:r>
              <a:t>点亮底部硬件链路：办公计算机 → 资源纳管服务器 → 测控代理 → 测控装置 → 目标机；右上角出现“闭环完成”。收口一句：从人工协调走向可预约、可部署、可监控、可回收。</a:t>
            </a:r>
          </a:p>
          <a:p/>
          <a:p>
            <a:r>
              <a:t>【提示】每次单击/空格推进一个阶段；动画可在“动画窗格”中调整。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148" y="-1981150"/>
            <a:ext cx="4571885" cy="4571885"/>
          </a:xfrm>
          <a:prstGeom prst="ellipse">
            <a:avLst/>
          </a:prstGeom>
          <a:noFill/>
          <a:ln w="10160">
            <a:solidFill>
              <a:srgbClr val="E4E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618" y="-1569680"/>
            <a:ext cx="3748946" cy="3748946"/>
          </a:xfrm>
          <a:prstGeom prst="ellipse">
            <a:avLst/>
          </a:prstGeom>
          <a:noFill/>
          <a:ln w="10160">
            <a:solidFill>
              <a:srgbClr val="E8F0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11567" y="-1127731"/>
            <a:ext cx="2865048" cy="2865048"/>
          </a:xfrm>
          <a:prstGeom prst="ellipse">
            <a:avLst/>
          </a:prstGeom>
          <a:noFill/>
          <a:ln w="10160">
            <a:solidFill>
              <a:srgbClr val="ECF3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55543" cy="4571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3055543" cy="45718"/>
          </a:xfrm>
          <a:prstGeom prst="rect">
            <a:avLst/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3055543" cy="45718"/>
          </a:xfrm>
          <a:prstGeom prst="rect">
            <a:avLst/>
          </a:prstGeom>
          <a:solidFill>
            <a:srgbClr val="5B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71" y="0"/>
            <a:ext cx="3055543" cy="45718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07" y="297172"/>
            <a:ext cx="60958" cy="60958"/>
          </a:xfrm>
          <a:prstGeom prst="ellipse">
            <a:avLst/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63" y="213354"/>
            <a:ext cx="5791055" cy="2285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lang="zh-CN" altLang="en-US" spc="130">
                <a:solidFill>
                  <a:srgbClr val="0B7C86"/>
                </a:solidFill>
                <a:latin typeface="Bahnschrift"/>
                <a:ea typeface="Bahnschrift"/>
                <a:cs typeface="Bahnschrift"/>
              </a:rPr>
              <a:t>RESOURCE MANAGEMENT  ·  BUSINESS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403849"/>
            <a:ext cx="7619809" cy="4267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 altLang="en-US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资源纳管系统业务流程图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67" y="914377"/>
            <a:ext cx="8838979" cy="2285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lang="zh-CN" altLang="en-US">
                <a:solidFill>
                  <a:srgbClr val="4B5D72"/>
                </a:solidFill>
                <a:latin typeface="Microsoft YaHei"/>
                <a:ea typeface="Microsoft YaHei"/>
                <a:cs typeface="Microsoft YaHei"/>
              </a:rPr>
              <a:t>三类角色协同，把分散的目标机资源变成</a:t>
            </a:r>
            <a:r>
              <a:rPr sz="1130" b="1" lang="zh-CN" altLang="en-US">
                <a:solidFill>
                  <a:srgbClr val="0B7C86"/>
                </a:solidFill>
                <a:latin typeface="Microsoft YaHei"/>
                <a:ea typeface="Microsoft YaHei"/>
                <a:cs typeface="Microsoft YaHei"/>
              </a:rPr>
              <a:t>可预约、可部署、可监控、可回收</a:t>
            </a:r>
            <a:r>
              <a:rPr sz="1130" b="0" lang="zh-CN" altLang="en-US">
                <a:solidFill>
                  <a:srgbClr val="4B5D72"/>
                </a:solidFill>
                <a:latin typeface="Microsoft YaHei"/>
                <a:ea typeface="Microsoft YaHei"/>
                <a:cs typeface="Microsoft YaHei"/>
              </a:rPr>
              <a:t>的服务池。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667" y="1295367"/>
            <a:ext cx="11216360" cy="0"/>
          </a:xfrm>
          <a:prstGeom prst="line">
            <a:avLst/>
          </a:prstGeom>
          <a:ln w="8890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7667" y="1584920"/>
            <a:ext cx="2651693" cy="336795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24" y="1722076"/>
            <a:ext cx="289552" cy="289552"/>
          </a:xfrm>
          <a:prstGeom prst="roundRect">
            <a:avLst>
              <a:gd name="adj" fmla="val 24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824" y="1722076"/>
            <a:ext cx="289552" cy="289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14" y="1714457"/>
            <a:ext cx="1333466" cy="304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 altLang="en-US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身份与准备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5016" y="1775415"/>
            <a:ext cx="457188" cy="160015"/>
          </a:xfrm>
          <a:prstGeom prst="roundRect">
            <a:avLst>
              <a:gd name="adj" fmla="val 50000"/>
            </a:avLst>
          </a:prstGeom>
          <a:solidFill>
            <a:srgbClr val="EDF3FF"/>
          </a:solidFill>
          <a:ln w="7620">
            <a:solidFill>
              <a:srgbClr val="DEE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19" rIns="7619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lang="zh-CN" altLang="en-US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4824" y="2103067"/>
            <a:ext cx="2377380" cy="0"/>
          </a:xfrm>
          <a:prstGeom prst="line">
            <a:avLst/>
          </a:prstGeom>
          <a:ln w="7620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37476" y="1584920"/>
            <a:ext cx="2651693" cy="336795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74633" y="1722076"/>
            <a:ext cx="289552" cy="289552"/>
          </a:xfrm>
          <a:prstGeom prst="roundRect">
            <a:avLst>
              <a:gd name="adj" fmla="val 24000"/>
            </a:avLst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633" y="1722076"/>
            <a:ext cx="289552" cy="289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5623" y="1714457"/>
            <a:ext cx="1333466" cy="304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 altLang="en-US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申请与校验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825" y="1775415"/>
            <a:ext cx="457188" cy="160015"/>
          </a:xfrm>
          <a:prstGeom prst="roundRect">
            <a:avLst>
              <a:gd name="adj" fmla="val 50000"/>
            </a:avLst>
          </a:prstGeom>
          <a:solidFill>
            <a:srgbClr val="E9F8FA"/>
          </a:solidFill>
          <a:ln w="7620">
            <a:solidFill>
              <a:srgbClr val="D7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19" rIns="7619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lang="zh-CN" altLang="en-US">
                <a:solidFill>
                  <a:srgbClr val="0B7C86"/>
                </a:solidFill>
                <a:latin typeface="Microsoft YaHei"/>
                <a:ea typeface="Microsoft YaHei"/>
                <a:cs typeface="Microsoft YaHei"/>
              </a:rPr>
              <a:t>校验前置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74633" y="2103067"/>
            <a:ext cx="2377380" cy="0"/>
          </a:xfrm>
          <a:prstGeom prst="line">
            <a:avLst/>
          </a:prstGeom>
          <a:ln w="7620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87285" y="1584920"/>
            <a:ext cx="2651693" cy="336795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24441" y="1722076"/>
            <a:ext cx="289552" cy="289552"/>
          </a:xfrm>
          <a:prstGeom prst="roundRect">
            <a:avLst>
              <a:gd name="adj" fmla="val 24000"/>
            </a:avLst>
          </a:prstGeom>
          <a:solidFill>
            <a:srgbClr val="5B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441" y="1722076"/>
            <a:ext cx="289552" cy="289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432" y="1714457"/>
            <a:ext cx="1333466" cy="304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 altLang="en-US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部署与使用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4633" y="1775415"/>
            <a:ext cx="457188" cy="160015"/>
          </a:xfrm>
          <a:prstGeom prst="roundRect">
            <a:avLst>
              <a:gd name="adj" fmla="val 50000"/>
            </a:avLst>
          </a:prstGeom>
          <a:solidFill>
            <a:srgbClr val="EFF0FF"/>
          </a:solidFill>
          <a:ln w="7620">
            <a:solidFill>
              <a:srgbClr val="E2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19" rIns="7619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lang="zh-CN" altLang="en-US">
                <a:solidFill>
                  <a:srgbClr val="4238D8"/>
                </a:solidFill>
                <a:latin typeface="Microsoft YaHei"/>
                <a:ea typeface="Microsoft YaHei"/>
                <a:cs typeface="Microsoft YaHei"/>
              </a:rPr>
              <a:t>自动部署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24441" y="2103067"/>
            <a:ext cx="2377381" cy="0"/>
          </a:xfrm>
          <a:prstGeom prst="line">
            <a:avLst/>
          </a:prstGeom>
          <a:ln w="7620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37094" y="1584920"/>
            <a:ext cx="2651693" cy="336795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74250" y="1722076"/>
            <a:ext cx="289552" cy="289552"/>
          </a:xfrm>
          <a:prstGeom prst="roundRect">
            <a:avLst>
              <a:gd name="adj" fmla="val 24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4250" y="1722076"/>
            <a:ext cx="289552" cy="289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241" y="1714457"/>
            <a:ext cx="1333466" cy="304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 altLang="en-US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释放与回池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94442" y="1775415"/>
            <a:ext cx="457188" cy="160015"/>
          </a:xfrm>
          <a:prstGeom prst="roundRect">
            <a:avLst>
              <a:gd name="adj" fmla="val 50000"/>
            </a:avLst>
          </a:prstGeom>
          <a:solidFill>
            <a:srgbClr val="EAF9F1"/>
          </a:solidFill>
          <a:ln w="7620">
            <a:solidFill>
              <a:srgbClr val="D9F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19" rIns="7619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lang="zh-CN" altLang="en-US">
                <a:solidFill>
                  <a:srgbClr val="067A52"/>
                </a:solidFill>
                <a:latin typeface="Microsoft YaHei"/>
                <a:ea typeface="Microsoft YaHei"/>
                <a:cs typeface="Microsoft YaHei"/>
              </a:rPr>
              <a:t>回池复用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4250" y="2103067"/>
            <a:ext cx="2377381" cy="0"/>
          </a:xfrm>
          <a:prstGeom prst="line">
            <a:avLst/>
          </a:prstGeom>
          <a:ln w="7620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169840" y="1866853"/>
            <a:ext cx="137157" cy="0"/>
          </a:xfrm>
          <a:prstGeom prst="line">
            <a:avLst/>
          </a:prstGeom>
          <a:ln w="16510">
            <a:solidFill>
              <a:srgbClr val="96AB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19649" y="1866853"/>
            <a:ext cx="137157" cy="0"/>
          </a:xfrm>
          <a:prstGeom prst="line">
            <a:avLst/>
          </a:prstGeom>
          <a:ln w="16510">
            <a:solidFill>
              <a:srgbClr val="96AB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69458" y="1866853"/>
            <a:ext cx="137156" cy="0"/>
          </a:xfrm>
          <a:prstGeom prst="line">
            <a:avLst/>
          </a:prstGeom>
          <a:ln w="16510">
            <a:solidFill>
              <a:srgbClr val="96AB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87667" y="5211949"/>
            <a:ext cx="11216359" cy="761980"/>
          </a:xfrm>
          <a:prstGeom prst="roundRect">
            <a:avLst>
              <a:gd name="adj" fmla="val 10000"/>
            </a:avLst>
          </a:prstGeom>
          <a:solidFill>
            <a:srgbClr val="0B1B2F"/>
          </a:solidFill>
          <a:ln w="8890">
            <a:solidFill>
              <a:srgbClr val="19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824" y="5227189"/>
            <a:ext cx="10942046" cy="15239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63" y="5288147"/>
            <a:ext cx="1219169" cy="2133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lang="zh-CN" altLang="en-US">
                <a:solidFill>
                  <a:srgbClr val="F1F7FC"/>
                </a:solidFill>
                <a:latin typeface="Microsoft YaHei"/>
                <a:ea typeface="Microsoft YaHei"/>
                <a:cs typeface="Microsoft YaHei"/>
              </a:rPr>
              <a:t>运行底座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63" y="5432924"/>
            <a:ext cx="1447763" cy="1371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lang="zh-CN" altLang="en-US" spc="60">
                <a:solidFill>
                  <a:srgbClr val="6EE7D8"/>
                </a:solidFill>
                <a:latin typeface="Bahnschrift"/>
                <a:ea typeface="Bahnschrift"/>
                <a:cs typeface="Bahnschrift"/>
              </a:rPr>
              <a:t>HARDWARE &amp; CONTROL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6007" y="5615799"/>
            <a:ext cx="822939" cy="213354"/>
          </a:xfrm>
          <a:prstGeom prst="roundRect">
            <a:avLst>
              <a:gd name="adj" fmla="val 50000"/>
            </a:avLst>
          </a:prstGeom>
          <a:solidFill>
            <a:srgbClr val="132A40"/>
          </a:solidFill>
          <a:ln w="8890">
            <a:solidFill>
              <a:srgbClr val="2A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6007" y="5615799"/>
            <a:ext cx="822939" cy="2133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工位区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79905" y="5615799"/>
            <a:ext cx="822939" cy="213354"/>
          </a:xfrm>
          <a:prstGeom prst="roundRect">
            <a:avLst>
              <a:gd name="adj" fmla="val 50000"/>
            </a:avLst>
          </a:prstGeom>
          <a:solidFill>
            <a:srgbClr val="132A40"/>
          </a:solidFill>
          <a:ln w="8890">
            <a:solidFill>
              <a:srgbClr val="2A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9905" y="5615799"/>
            <a:ext cx="822939" cy="2133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工控网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63803" y="5615799"/>
            <a:ext cx="822939" cy="213354"/>
          </a:xfrm>
          <a:prstGeom prst="roundRect">
            <a:avLst>
              <a:gd name="adj" fmla="val 50000"/>
            </a:avLst>
          </a:prstGeom>
          <a:solidFill>
            <a:srgbClr val="132A40"/>
          </a:solidFill>
          <a:ln w="8890">
            <a:solidFill>
              <a:srgbClr val="2A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3803" y="5615799"/>
            <a:ext cx="822939" cy="2133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设备网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47701" y="5615799"/>
            <a:ext cx="822939" cy="213354"/>
          </a:xfrm>
          <a:prstGeom prst="roundRect">
            <a:avLst>
              <a:gd name="adj" fmla="val 50000"/>
            </a:avLst>
          </a:prstGeom>
          <a:solidFill>
            <a:srgbClr val="132A40"/>
          </a:solidFill>
          <a:ln w="8890">
            <a:solidFill>
              <a:srgbClr val="2A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47701" y="5615799"/>
            <a:ext cx="822939" cy="2133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调试区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6007" y="5471023"/>
            <a:ext cx="914377" cy="121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网络域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7667" y="6187285"/>
            <a:ext cx="3809904" cy="121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lang="zh-CN" altLang="en-US">
                <a:solidFill>
                  <a:srgbClr val="8B9AAF"/>
                </a:solidFill>
                <a:latin typeface="Microsoft YaHei"/>
                <a:ea typeface="Microsoft YaHei"/>
                <a:cs typeface="Microsoft YaHei"/>
              </a:rPr>
              <a:t>资源纳管系统 · 分步动画版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3036" y="6187285"/>
            <a:ext cx="5150991" cy="121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lang="zh-CN" altLang="en-US">
                <a:solidFill>
                  <a:srgbClr val="8B9AAF"/>
                </a:solidFill>
                <a:latin typeface="Microsoft YaHei"/>
                <a:ea typeface="Microsoft YaHei"/>
                <a:cs typeface="Microsoft YaHei"/>
              </a:rPr>
              <a:t>依据业务流程图 / 工作原理框图 / 硬件环境示意图整理</a:t>
            </a:r>
          </a:p>
        </p:txBody>
      </p:sp>
      <p:grpSp>
        <p:nvGrpSpPr>
          <p:cNvPr id="56" name="01 身份与准备"/>
          <p:cNvGrpSpPr/>
          <p:nvPr/>
        </p:nvGrpSpPr>
        <p:grpSpPr>
          <a:xfrm>
            <a:off x="487667" y="1584920"/>
            <a:ext cx="2651693" cy="3367955"/>
            <a:chOff x="487667" y="1584920"/>
            <a:chExt cx="2651693" cy="3367955"/>
          </a:xfrm>
        </p:grpSpPr>
        <p:sp>
          <p:nvSpPr>
            <p:cNvPr id="57" name="Rounded Rectangle 56"/>
            <p:cNvSpPr/>
            <p:nvPr/>
          </p:nvSpPr>
          <p:spPr>
            <a:xfrm>
              <a:off x="487667" y="1584920"/>
              <a:ext cx="2651693" cy="3367955"/>
            </a:xfrm>
            <a:prstGeom prst="roundRect">
              <a:avLst>
                <a:gd name="adj" fmla="val 5500"/>
              </a:avLst>
            </a:prstGeom>
            <a:noFill/>
            <a:ln w="20320">
              <a:solidFill>
                <a:srgbClr val="2F6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655303" y="2224984"/>
              <a:ext cx="2316422" cy="320031"/>
            </a:xfrm>
            <a:prstGeom prst="roundRect">
              <a:avLst>
                <a:gd name="adj" fmla="val 14000"/>
              </a:avLst>
            </a:prstGeom>
            <a:solidFill>
              <a:srgbClr val="EDF3FF"/>
            </a:solidFill>
            <a:ln w="9525">
              <a:solidFill>
                <a:srgbClr val="DEE9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 lang="zh-CN" altLang="en-US">
                  <a:solidFill>
                    <a:srgbClr val="1D4ED8"/>
                  </a:solidFill>
                  <a:latin typeface="Microsoft YaHei"/>
                  <a:ea typeface="Microsoft YaHei"/>
                  <a:cs typeface="Microsoft YaHei"/>
                </a:rPr>
                <a:t>统一认证 · 用户登录</a:t>
              </a:r>
            </a:p>
          </p:txBody>
        </p:sp>
        <p:sp>
          <p:nvSpPr>
            <p:cNvPr id="59" name="Oval 58"/>
            <p:cNvSpPr/>
            <p:nvPr/>
          </p:nvSpPr>
          <p:spPr>
            <a:xfrm>
              <a:off x="746741" y="2354521"/>
              <a:ext cx="60958" cy="60958"/>
            </a:xfrm>
            <a:prstGeom prst="ellipse">
              <a:avLst/>
            </a:prstGeom>
            <a:solidFill>
              <a:srgbClr val="2F6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813514" y="2545016"/>
              <a:ext cx="0" cy="106677"/>
            </a:xfrm>
            <a:prstGeom prst="line">
              <a:avLst/>
            </a:prstGeom>
            <a:ln w="13970">
              <a:solidFill>
                <a:srgbClr val="2F6BF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447763" y="2636454"/>
              <a:ext cx="731501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0" lang="zh-CN" altLang="en-US">
                  <a:solidFill>
                    <a:srgbClr val="8B9AAF"/>
                  </a:solidFill>
                  <a:latin typeface="Microsoft YaHei"/>
                  <a:ea typeface="Microsoft YaHei"/>
                  <a:cs typeface="Microsoft YaHei"/>
                </a:rPr>
                <a:t>按角色分流</a:t>
              </a:r>
            </a:p>
          </p:txBody>
        </p:sp>
        <p:cxnSp>
          <p:nvCxnSpPr>
            <p:cNvPr id="62" name="Connector 61"/>
            <p:cNvCxnSpPr/>
            <p:nvPr/>
          </p:nvCxnSpPr>
          <p:spPr>
            <a:xfrm>
              <a:off x="868658" y="2697412"/>
              <a:ext cx="678163" cy="0"/>
            </a:xfrm>
            <a:prstGeom prst="line">
              <a:avLst/>
            </a:prstGeom>
            <a:ln w="7620">
              <a:solidFill>
                <a:srgbClr val="E9EFF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2080207" y="2697412"/>
              <a:ext cx="678164" cy="0"/>
            </a:xfrm>
            <a:prstGeom prst="line">
              <a:avLst/>
            </a:prstGeom>
            <a:ln w="7620">
              <a:solidFill>
                <a:srgbClr val="E9EFF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ounded Rectangle 63"/>
            <p:cNvSpPr/>
            <p:nvPr/>
          </p:nvSpPr>
          <p:spPr>
            <a:xfrm>
              <a:off x="655303" y="2788850"/>
              <a:ext cx="2057348" cy="304792"/>
            </a:xfrm>
            <a:prstGeom prst="roundRect">
              <a:avLst>
                <a:gd name="adj" fmla="val 16000"/>
              </a:avLst>
            </a:prstGeom>
            <a:solidFill>
              <a:srgbClr val="FAFBFE"/>
            </a:solidFill>
            <a:ln w="7620">
              <a:solidFill>
                <a:srgbClr val="E7EEF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20031" rIns="30479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系统管理员</a:t>
              </a: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680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权限 · 字典 · 日志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716262" y="2842188"/>
              <a:ext cx="198115" cy="198115"/>
            </a:xfrm>
            <a:prstGeom prst="roundRect">
              <a:avLst>
                <a:gd name="adj" fmla="val 24000"/>
              </a:avLst>
            </a:prstGeom>
            <a:solidFill>
              <a:srgbClr val="2F6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6262" y="2842188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1" lang="zh-CN" altLang="en-US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系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655303" y="3139361"/>
              <a:ext cx="2057348" cy="304792"/>
            </a:xfrm>
            <a:prstGeom prst="roundRect">
              <a:avLst>
                <a:gd name="adj" fmla="val 16000"/>
              </a:avLst>
            </a:prstGeom>
            <a:solidFill>
              <a:srgbClr val="FAFBFE"/>
            </a:solidFill>
            <a:ln w="7620">
              <a:solidFill>
                <a:srgbClr val="E7EEF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20031" rIns="30479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资源管理员</a:t>
              </a: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680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硬件 · 工具 · 连接关系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716262" y="3192700"/>
              <a:ext cx="198115" cy="198115"/>
            </a:xfrm>
            <a:prstGeom prst="roundRect">
              <a:avLst>
                <a:gd name="adj" fmla="val 24000"/>
              </a:avLst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6262" y="3192700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1" lang="zh-CN" altLang="en-US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资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655303" y="3489872"/>
              <a:ext cx="2057348" cy="304792"/>
            </a:xfrm>
            <a:prstGeom prst="roundRect">
              <a:avLst>
                <a:gd name="adj" fmla="val 16000"/>
              </a:avLst>
            </a:prstGeom>
            <a:solidFill>
              <a:srgbClr val="FAFBFE"/>
            </a:solidFill>
            <a:ln w="7620">
              <a:solidFill>
                <a:srgbClr val="E7EEF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20031" rIns="30479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普通用户</a:t>
              </a: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680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创建构型 · 上传工程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716262" y="3543211"/>
              <a:ext cx="198115" cy="198115"/>
            </a:xfrm>
            <a:prstGeom prst="roundRect">
              <a:avLst>
                <a:gd name="adj" fmla="val 24000"/>
              </a:avLst>
            </a:prstGeom>
            <a:solidFill>
              <a:srgbClr val="5B5B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16262" y="3543211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1" lang="zh-CN" altLang="en-US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</a:p>
          </p:txBody>
        </p:sp>
        <p:cxnSp>
          <p:nvCxnSpPr>
            <p:cNvPr id="73" name="Connector 72"/>
            <p:cNvCxnSpPr/>
            <p:nvPr/>
          </p:nvCxnSpPr>
          <p:spPr>
            <a:xfrm>
              <a:off x="2712652" y="2941246"/>
              <a:ext cx="182875" cy="0"/>
            </a:xfrm>
            <a:prstGeom prst="line">
              <a:avLst/>
            </a:prstGeom>
            <a:ln w="8890">
              <a:solidFill>
                <a:srgbClr val="BCCD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2712652" y="3291757"/>
              <a:ext cx="182875" cy="0"/>
            </a:xfrm>
            <a:prstGeom prst="line">
              <a:avLst/>
            </a:prstGeom>
            <a:ln w="8890">
              <a:solidFill>
                <a:srgbClr val="BCCD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2712652" y="3642268"/>
              <a:ext cx="182875" cy="0"/>
            </a:xfrm>
            <a:prstGeom prst="line">
              <a:avLst/>
            </a:prstGeom>
            <a:ln w="8890">
              <a:solidFill>
                <a:srgbClr val="BCCD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>
              <a:off x="2895527" y="2941246"/>
              <a:ext cx="0" cy="960096"/>
            </a:xfrm>
            <a:prstGeom prst="line">
              <a:avLst/>
            </a:prstGeom>
            <a:ln w="8890">
              <a:solidFill>
                <a:srgbClr val="BCCD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 flipH="1">
              <a:off x="1813514" y="3901342"/>
              <a:ext cx="1082013" cy="0"/>
            </a:xfrm>
            <a:prstGeom prst="line">
              <a:avLst/>
            </a:prstGeom>
            <a:ln w="8890">
              <a:solidFill>
                <a:srgbClr val="BCCD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/>
            <p:cNvSpPr/>
            <p:nvPr/>
          </p:nvSpPr>
          <p:spPr>
            <a:xfrm>
              <a:off x="2876478" y="3882292"/>
              <a:ext cx="38099" cy="38099"/>
            </a:xfrm>
            <a:prstGeom prst="ellipse">
              <a:avLst/>
            </a:prstGeom>
            <a:solidFill>
              <a:srgbClr val="2F6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1813514" y="3901342"/>
              <a:ext cx="0" cy="152396"/>
            </a:xfrm>
            <a:prstGeom prst="line">
              <a:avLst/>
            </a:prstGeom>
            <a:ln w="13970">
              <a:solidFill>
                <a:srgbClr val="2F6BF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ounded Rectangle 79"/>
            <p:cNvSpPr/>
            <p:nvPr/>
          </p:nvSpPr>
          <p:spPr>
            <a:xfrm>
              <a:off x="655303" y="4068978"/>
              <a:ext cx="2316422" cy="320031"/>
            </a:xfrm>
            <a:prstGeom prst="roundRect">
              <a:avLst>
                <a:gd name="adj" fmla="val 50000"/>
              </a:avLst>
            </a:prstGeom>
            <a:solidFill>
              <a:srgbClr val="EAF9F1"/>
            </a:solidFill>
            <a:ln w="10160">
              <a:solidFill>
                <a:srgbClr val="BFE9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 lang="zh-CN" altLang="en-US">
                  <a:solidFill>
                    <a:srgbClr val="067A52"/>
                  </a:solidFill>
                  <a:latin typeface="Microsoft YaHei"/>
                  <a:ea typeface="Microsoft YaHei"/>
                  <a:cs typeface="Microsoft YaHei"/>
                </a:rPr>
                <a:t>基础数据就绪</a:t>
              </a:r>
            </a:p>
          </p:txBody>
        </p:sp>
        <p:sp>
          <p:nvSpPr>
            <p:cNvPr id="81" name="Oval 80"/>
            <p:cNvSpPr/>
            <p:nvPr/>
          </p:nvSpPr>
          <p:spPr>
            <a:xfrm>
              <a:off x="744836" y="4196610"/>
              <a:ext cx="64768" cy="6476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" name="02 申请与校验"/>
          <p:cNvGrpSpPr/>
          <p:nvPr/>
        </p:nvGrpSpPr>
        <p:grpSpPr>
          <a:xfrm>
            <a:off x="838179" y="1584920"/>
            <a:ext cx="5150990" cy="3367955"/>
            <a:chOff x="838179" y="1584920"/>
            <a:chExt cx="5150990" cy="3367955"/>
          </a:xfrm>
        </p:grpSpPr>
        <p:sp>
          <p:nvSpPr>
            <p:cNvPr id="83" name="Rounded Rectangle 82"/>
            <p:cNvSpPr/>
            <p:nvPr/>
          </p:nvSpPr>
          <p:spPr>
            <a:xfrm>
              <a:off x="3337476" y="1584920"/>
              <a:ext cx="2651693" cy="3367955"/>
            </a:xfrm>
            <a:prstGeom prst="roundRect">
              <a:avLst>
                <a:gd name="adj" fmla="val 5500"/>
              </a:avLst>
            </a:prstGeom>
            <a:noFill/>
            <a:ln w="20320">
              <a:solidFill>
                <a:srgbClr val="0D9B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838179" y="1935431"/>
              <a:ext cx="106677" cy="106677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5" name="Connector 84"/>
            <p:cNvCxnSpPr/>
            <p:nvPr/>
          </p:nvCxnSpPr>
          <p:spPr>
            <a:xfrm>
              <a:off x="864086" y="1988770"/>
              <a:ext cx="19811" cy="19811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 flipV="1">
              <a:off x="883897" y="1964386"/>
              <a:ext cx="38099" cy="44195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ounded Rectangle 86"/>
            <p:cNvSpPr/>
            <p:nvPr/>
          </p:nvSpPr>
          <p:spPr>
            <a:xfrm>
              <a:off x="3505112" y="2224984"/>
              <a:ext cx="2316422" cy="335271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9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目标机申请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目标机 · 时段 · 构型</a:t>
              </a:r>
            </a:p>
          </p:txBody>
        </p:sp>
        <p:sp>
          <p:nvSpPr>
            <p:cNvPr id="88" name="Oval 87"/>
            <p:cNvSpPr/>
            <p:nvPr/>
          </p:nvSpPr>
          <p:spPr>
            <a:xfrm>
              <a:off x="3596550" y="2362140"/>
              <a:ext cx="60958" cy="60958"/>
            </a:xfrm>
            <a:prstGeom prst="ellipse">
              <a:avLst/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4663323" y="2560255"/>
              <a:ext cx="0" cy="106678"/>
            </a:xfrm>
            <a:prstGeom prst="line">
              <a:avLst/>
            </a:prstGeom>
            <a:ln w="13970">
              <a:solidFill>
                <a:srgbClr val="0D9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Diamond 89"/>
            <p:cNvSpPr/>
            <p:nvPr/>
          </p:nvSpPr>
          <p:spPr>
            <a:xfrm>
              <a:off x="3787045" y="2682172"/>
              <a:ext cx="1752556" cy="838179"/>
            </a:xfrm>
            <a:prstGeom prst="diamond">
              <a:avLst/>
            </a:prstGeom>
            <a:solidFill>
              <a:srgbClr val="FFF2D6"/>
            </a:solidFill>
            <a:ln w="19050">
              <a:solidFill>
                <a:srgbClr val="E9B85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0479" rIns="30479" tIns="15239" bIns="15239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lang="zh-CN" altLang="en-US">
                  <a:solidFill>
                    <a:srgbClr val="955A00"/>
                  </a:solidFill>
                  <a:latin typeface="Microsoft YaHei"/>
                  <a:ea typeface="Microsoft YaHei"/>
                  <a:cs typeface="Microsoft YaHei"/>
                </a:rPr>
                <a:t>可用性校验</a:t>
              </a:r>
            </a:p>
          </p:txBody>
        </p:sp>
        <p:cxnSp>
          <p:nvCxnSpPr>
            <p:cNvPr id="91" name="Connector 90"/>
            <p:cNvCxnSpPr/>
            <p:nvPr/>
          </p:nvCxnSpPr>
          <p:spPr>
            <a:xfrm flipH="1">
              <a:off x="3428914" y="3101262"/>
              <a:ext cx="358131" cy="0"/>
            </a:xfrm>
            <a:prstGeom prst="line">
              <a:avLst/>
            </a:prstGeom>
            <a:ln w="12700">
              <a:solidFill>
                <a:srgbClr val="D98B15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 flipV="1">
              <a:off x="3428914" y="2392620"/>
              <a:ext cx="0" cy="708642"/>
            </a:xfrm>
            <a:prstGeom prst="line">
              <a:avLst/>
            </a:prstGeom>
            <a:ln w="12700">
              <a:solidFill>
                <a:srgbClr val="D98B15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3428914" y="2392620"/>
              <a:ext cx="76198" cy="0"/>
            </a:xfrm>
            <a:prstGeom prst="line">
              <a:avLst/>
            </a:prstGeom>
            <a:ln w="12700">
              <a:solidFill>
                <a:srgbClr val="D98B15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ounded Rectangle 93"/>
            <p:cNvSpPr/>
            <p:nvPr/>
          </p:nvSpPr>
          <p:spPr>
            <a:xfrm>
              <a:off x="3505112" y="3611789"/>
              <a:ext cx="1066773" cy="182875"/>
            </a:xfrm>
            <a:prstGeom prst="roundRect">
              <a:avLst>
                <a:gd name="adj" fmla="val 50000"/>
              </a:avLst>
            </a:prstGeom>
            <a:solidFill>
              <a:srgbClr val="FFF7E6"/>
            </a:solidFill>
            <a:ln w="10160">
              <a:solidFill>
                <a:srgbClr val="E9B85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 lang="zh-CN" altLang="en-US">
                  <a:solidFill>
                    <a:srgbClr val="955A00"/>
                  </a:solidFill>
                  <a:latin typeface="Microsoft YaHei"/>
                  <a:ea typeface="Microsoft YaHei"/>
                  <a:cs typeface="Microsoft YaHei"/>
                </a:rPr>
                <a:t>不通过 · 返回调整</a:t>
              </a:r>
            </a:p>
          </p:txBody>
        </p:sp>
      </p:grpSp>
      <p:grpSp>
        <p:nvGrpSpPr>
          <p:cNvPr id="95" name="03 通过并预约"/>
          <p:cNvGrpSpPr/>
          <p:nvPr/>
        </p:nvGrpSpPr>
        <p:grpSpPr>
          <a:xfrm>
            <a:off x="3505112" y="2682172"/>
            <a:ext cx="2316422" cy="1630639"/>
            <a:chOff x="3505112" y="2682172"/>
            <a:chExt cx="2316422" cy="1630639"/>
          </a:xfrm>
        </p:grpSpPr>
        <p:sp>
          <p:nvSpPr>
            <p:cNvPr id="96" name="Diamond 95"/>
            <p:cNvSpPr/>
            <p:nvPr/>
          </p:nvSpPr>
          <p:spPr>
            <a:xfrm>
              <a:off x="3787045" y="2682172"/>
              <a:ext cx="1752556" cy="838179"/>
            </a:xfrm>
            <a:prstGeom prst="diamond">
              <a:avLst/>
            </a:prstGeom>
            <a:solidFill>
              <a:srgbClr val="E1F8EE"/>
            </a:solidFill>
            <a:ln w="19050">
              <a:solidFill>
                <a:srgbClr val="0E9F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0479" rIns="30479" tIns="15239" bIns="15239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lang="zh-CN" altLang="en-US">
                  <a:solidFill>
                    <a:srgbClr val="067A52"/>
                  </a:solidFill>
                  <a:latin typeface="Microsoft YaHei"/>
                  <a:ea typeface="Microsoft YaHei"/>
                  <a:cs typeface="Microsoft YaHei"/>
                </a:rPr>
                <a:t>可用性校验</a:t>
              </a:r>
            </a:p>
          </p:txBody>
        </p:sp>
        <p:cxnSp>
          <p:nvCxnSpPr>
            <p:cNvPr id="97" name="Connector 96"/>
            <p:cNvCxnSpPr/>
            <p:nvPr/>
          </p:nvCxnSpPr>
          <p:spPr>
            <a:xfrm>
              <a:off x="4663323" y="3520351"/>
              <a:ext cx="0" cy="457189"/>
            </a:xfrm>
            <a:prstGeom prst="line">
              <a:avLst/>
            </a:prstGeom>
            <a:ln w="17780">
              <a:solidFill>
                <a:srgbClr val="0E9F6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4731901" y="3634649"/>
              <a:ext cx="396230" cy="1371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lang="zh-CN" altLang="en-US">
                  <a:solidFill>
                    <a:srgbClr val="067A52"/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3505112" y="3977540"/>
              <a:ext cx="2316422" cy="335271"/>
            </a:xfrm>
            <a:prstGeom prst="roundRect">
              <a:avLst>
                <a:gd name="adj" fmla="val 50000"/>
              </a:avLst>
            </a:prstGeom>
            <a:solidFill>
              <a:srgbClr val="EAF9F1"/>
            </a:solidFill>
            <a:ln w="10160">
              <a:solidFill>
                <a:srgbClr val="BFE9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1" lang="zh-CN" altLang="en-US">
                  <a:solidFill>
                    <a:srgbClr val="067A52"/>
                  </a:solidFill>
                  <a:latin typeface="Microsoft YaHei"/>
                  <a:ea typeface="Microsoft YaHei"/>
                  <a:cs typeface="Microsoft YaHei"/>
                </a:rPr>
                <a:t>预约生效</a:t>
              </a:r>
            </a:p>
          </p:txBody>
        </p:sp>
        <p:sp>
          <p:nvSpPr>
            <p:cNvPr id="100" name="Oval 99"/>
            <p:cNvSpPr/>
            <p:nvPr/>
          </p:nvSpPr>
          <p:spPr>
            <a:xfrm>
              <a:off x="3594645" y="4112792"/>
              <a:ext cx="64768" cy="6476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" name="04 部署与使用"/>
          <p:cNvGrpSpPr/>
          <p:nvPr/>
        </p:nvGrpSpPr>
        <p:grpSpPr>
          <a:xfrm>
            <a:off x="3687987" y="1584920"/>
            <a:ext cx="5150991" cy="3367955"/>
            <a:chOff x="3687987" y="1584920"/>
            <a:chExt cx="5150991" cy="3367955"/>
          </a:xfrm>
        </p:grpSpPr>
        <p:sp>
          <p:nvSpPr>
            <p:cNvPr id="102" name="Rounded Rectangle 101"/>
            <p:cNvSpPr/>
            <p:nvPr/>
          </p:nvSpPr>
          <p:spPr>
            <a:xfrm>
              <a:off x="6187285" y="1584920"/>
              <a:ext cx="2651693" cy="3367955"/>
            </a:xfrm>
            <a:prstGeom prst="roundRect">
              <a:avLst>
                <a:gd name="adj" fmla="val 5500"/>
              </a:avLst>
            </a:prstGeom>
            <a:noFill/>
            <a:ln w="20320">
              <a:solidFill>
                <a:srgbClr val="5B5B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3687987" y="1935431"/>
              <a:ext cx="106677" cy="106677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4" name="Connector 103"/>
            <p:cNvCxnSpPr/>
            <p:nvPr/>
          </p:nvCxnSpPr>
          <p:spPr>
            <a:xfrm>
              <a:off x="3713895" y="1988770"/>
              <a:ext cx="19811" cy="19811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V="1">
              <a:off x="3733706" y="1964386"/>
              <a:ext cx="38099" cy="44195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ounded Rectangle 105"/>
            <p:cNvSpPr/>
            <p:nvPr/>
          </p:nvSpPr>
          <p:spPr>
            <a:xfrm>
              <a:off x="6354921" y="2285942"/>
              <a:ext cx="2316422" cy="426709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9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预约时间到达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系统定时触发</a:t>
              </a:r>
            </a:p>
          </p:txBody>
        </p:sp>
        <p:sp>
          <p:nvSpPr>
            <p:cNvPr id="107" name="Oval 106"/>
            <p:cNvSpPr/>
            <p:nvPr/>
          </p:nvSpPr>
          <p:spPr>
            <a:xfrm>
              <a:off x="6446358" y="2468818"/>
              <a:ext cx="60958" cy="60958"/>
            </a:xfrm>
            <a:prstGeom prst="ellipse">
              <a:avLst/>
            </a:prstGeom>
            <a:solidFill>
              <a:srgbClr val="5B5B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8" name="Connector 107"/>
            <p:cNvCxnSpPr/>
            <p:nvPr/>
          </p:nvCxnSpPr>
          <p:spPr>
            <a:xfrm>
              <a:off x="7513132" y="2712652"/>
              <a:ext cx="0" cy="182875"/>
            </a:xfrm>
            <a:prstGeom prst="line">
              <a:avLst/>
            </a:prstGeom>
            <a:ln w="13970">
              <a:solidFill>
                <a:srgbClr val="5B5BF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ounded Rectangle 108"/>
            <p:cNvSpPr/>
            <p:nvPr/>
          </p:nvSpPr>
          <p:spPr>
            <a:xfrm>
              <a:off x="6354921" y="2941246"/>
              <a:ext cx="2316422" cy="533386"/>
            </a:xfrm>
            <a:prstGeom prst="roundRect">
              <a:avLst>
                <a:gd name="adj" fmla="val 14000"/>
              </a:avLst>
            </a:prstGeom>
            <a:solidFill>
              <a:srgbClr val="EFF0FF"/>
            </a:solidFill>
            <a:ln w="9525">
              <a:solidFill>
                <a:srgbClr val="E2E3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自动部署构型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工具 / 工程按构型下发</a:t>
              </a:r>
            </a:p>
          </p:txBody>
        </p:sp>
        <p:sp>
          <p:nvSpPr>
            <p:cNvPr id="110" name="Oval 109"/>
            <p:cNvSpPr/>
            <p:nvPr/>
          </p:nvSpPr>
          <p:spPr>
            <a:xfrm>
              <a:off x="6446358" y="3177460"/>
              <a:ext cx="60958" cy="60958"/>
            </a:xfrm>
            <a:prstGeom prst="ellipse">
              <a:avLst/>
            </a:prstGeom>
            <a:solidFill>
              <a:srgbClr val="5B5B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1" name="Connector 110"/>
            <p:cNvCxnSpPr/>
            <p:nvPr/>
          </p:nvCxnSpPr>
          <p:spPr>
            <a:xfrm>
              <a:off x="7513132" y="3474633"/>
              <a:ext cx="0" cy="182875"/>
            </a:xfrm>
            <a:prstGeom prst="line">
              <a:avLst/>
            </a:prstGeom>
            <a:ln w="13970">
              <a:solidFill>
                <a:srgbClr val="5B5BF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ounded Rectangle 111"/>
            <p:cNvSpPr/>
            <p:nvPr/>
          </p:nvSpPr>
          <p:spPr>
            <a:xfrm>
              <a:off x="6354921" y="3703227"/>
              <a:ext cx="2316422" cy="533386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9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进入使用状态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实时监控 · 状态可见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6446358" y="3939441"/>
              <a:ext cx="60958" cy="60958"/>
            </a:xfrm>
            <a:prstGeom prst="ellipse">
              <a:avLst/>
            </a:prstGeom>
            <a:solidFill>
              <a:srgbClr val="5B5B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8576095" y="3836574"/>
              <a:ext cx="68578" cy="6857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8534186" y="3794665"/>
              <a:ext cx="220974" cy="220974"/>
            </a:xfrm>
            <a:prstGeom prst="ellipse">
              <a:avLst/>
            </a:prstGeom>
            <a:noFill/>
            <a:ln w="8890">
              <a:solidFill>
                <a:srgbClr val="A7E8C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" name="05 释放与回池"/>
          <p:cNvGrpSpPr/>
          <p:nvPr/>
        </p:nvGrpSpPr>
        <p:grpSpPr>
          <a:xfrm>
            <a:off x="6537796" y="1584920"/>
            <a:ext cx="5150991" cy="3367955"/>
            <a:chOff x="6537796" y="1584920"/>
            <a:chExt cx="5150991" cy="3367955"/>
          </a:xfrm>
        </p:grpSpPr>
        <p:sp>
          <p:nvSpPr>
            <p:cNvPr id="117" name="Rounded Rectangle 116"/>
            <p:cNvSpPr/>
            <p:nvPr/>
          </p:nvSpPr>
          <p:spPr>
            <a:xfrm>
              <a:off x="9037094" y="1584920"/>
              <a:ext cx="2651693" cy="3367955"/>
            </a:xfrm>
            <a:prstGeom prst="roundRect">
              <a:avLst>
                <a:gd name="adj" fmla="val 5500"/>
              </a:avLst>
            </a:prstGeom>
            <a:noFill/>
            <a:ln w="20320">
              <a:solidFill>
                <a:srgbClr val="0E9F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6537796" y="1935431"/>
              <a:ext cx="106677" cy="106677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9" name="Connector 118"/>
            <p:cNvCxnSpPr/>
            <p:nvPr/>
          </p:nvCxnSpPr>
          <p:spPr>
            <a:xfrm>
              <a:off x="6563703" y="1988770"/>
              <a:ext cx="19812" cy="19811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 119"/>
            <p:cNvCxnSpPr/>
            <p:nvPr/>
          </p:nvCxnSpPr>
          <p:spPr>
            <a:xfrm flipV="1">
              <a:off x="6583515" y="1964386"/>
              <a:ext cx="38099" cy="44195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Rounded Rectangle 120"/>
            <p:cNvSpPr/>
            <p:nvPr/>
          </p:nvSpPr>
          <p:spPr>
            <a:xfrm>
              <a:off x="9204729" y="2285942"/>
              <a:ext cx="2316422" cy="441948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9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使用结束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释放占用资源</a:t>
              </a:r>
            </a:p>
          </p:txBody>
        </p:sp>
        <p:sp>
          <p:nvSpPr>
            <p:cNvPr id="122" name="Oval 121"/>
            <p:cNvSpPr/>
            <p:nvPr/>
          </p:nvSpPr>
          <p:spPr>
            <a:xfrm>
              <a:off x="9296167" y="2476438"/>
              <a:ext cx="60958" cy="6095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3" name="Connector 122"/>
            <p:cNvCxnSpPr/>
            <p:nvPr/>
          </p:nvCxnSpPr>
          <p:spPr>
            <a:xfrm>
              <a:off x="10362940" y="2727891"/>
              <a:ext cx="0" cy="182876"/>
            </a:xfrm>
            <a:prstGeom prst="line">
              <a:avLst/>
            </a:prstGeom>
            <a:ln w="13970">
              <a:solidFill>
                <a:srgbClr val="0E9F6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/>
            <p:cNvSpPr/>
            <p:nvPr/>
          </p:nvSpPr>
          <p:spPr>
            <a:xfrm>
              <a:off x="9204729" y="2956486"/>
              <a:ext cx="2316422" cy="441948"/>
            </a:xfrm>
            <a:prstGeom prst="roundRect">
              <a:avLst>
                <a:gd name="adj" fmla="val 14000"/>
              </a:avLst>
            </a:prstGeom>
            <a:solidFill>
              <a:srgbClr val="EAF9F1"/>
            </a:solidFill>
            <a:ln w="9525">
              <a:solidFill>
                <a:srgbClr val="D9F4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资源回池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恢复可调度</a:t>
              </a:r>
            </a:p>
          </p:txBody>
        </p:sp>
        <p:sp>
          <p:nvSpPr>
            <p:cNvPr id="125" name="Oval 124"/>
            <p:cNvSpPr/>
            <p:nvPr/>
          </p:nvSpPr>
          <p:spPr>
            <a:xfrm>
              <a:off x="9296167" y="3146981"/>
              <a:ext cx="60958" cy="6095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6" name="Connector 125"/>
            <p:cNvCxnSpPr/>
            <p:nvPr/>
          </p:nvCxnSpPr>
          <p:spPr>
            <a:xfrm>
              <a:off x="10362940" y="3398435"/>
              <a:ext cx="0" cy="182875"/>
            </a:xfrm>
            <a:prstGeom prst="line">
              <a:avLst/>
            </a:prstGeom>
            <a:ln w="13970">
              <a:solidFill>
                <a:srgbClr val="0E9F6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Rounded Rectangle 126"/>
            <p:cNvSpPr/>
            <p:nvPr/>
          </p:nvSpPr>
          <p:spPr>
            <a:xfrm>
              <a:off x="9204729" y="3627029"/>
              <a:ext cx="2316422" cy="502907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9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43833" rIns="60958" tIns="15239" bIns="15239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看板统计更新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61748A"/>
                  </a:solidFill>
                  <a:latin typeface="Microsoft YaHei"/>
                  <a:ea typeface="Microsoft YaHei"/>
                  <a:cs typeface="Microsoft YaHei"/>
                </a:rPr>
                <a:t>利用率 · 占用时长</a:t>
              </a:r>
            </a:p>
          </p:txBody>
        </p:sp>
        <p:sp>
          <p:nvSpPr>
            <p:cNvPr id="128" name="Oval 127"/>
            <p:cNvSpPr/>
            <p:nvPr/>
          </p:nvSpPr>
          <p:spPr>
            <a:xfrm>
              <a:off x="9296167" y="3848003"/>
              <a:ext cx="60958" cy="6095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11338276" y="4084217"/>
              <a:ext cx="30479" cy="45718"/>
            </a:xfrm>
            <a:prstGeom prst="roundRect">
              <a:avLst>
                <a:gd name="adj" fmla="val 30000"/>
              </a:avLst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11391615" y="4053738"/>
              <a:ext cx="30479" cy="76198"/>
            </a:xfrm>
            <a:prstGeom prst="roundRect">
              <a:avLst>
                <a:gd name="adj" fmla="val 30000"/>
              </a:avLst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Rounded Rectangle 130"/>
            <p:cNvSpPr/>
            <p:nvPr/>
          </p:nvSpPr>
          <p:spPr>
            <a:xfrm>
              <a:off x="11444953" y="4015639"/>
              <a:ext cx="30479" cy="114297"/>
            </a:xfrm>
            <a:prstGeom prst="roundRect">
              <a:avLst>
                <a:gd name="adj" fmla="val 30000"/>
              </a:avLst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9753356" y="4343291"/>
              <a:ext cx="1219169" cy="182875"/>
            </a:xfrm>
            <a:prstGeom prst="roundRect">
              <a:avLst>
                <a:gd name="adj" fmla="val 50000"/>
              </a:avLst>
            </a:prstGeom>
            <a:solidFill>
              <a:srgbClr val="EAF9F1"/>
            </a:solidFill>
            <a:ln w="8890">
              <a:solidFill>
                <a:srgbClr val="BFE9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9837174" y="4411869"/>
              <a:ext cx="45718" cy="4571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951471" y="4343291"/>
              <a:ext cx="975335" cy="18287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 lang="zh-CN" altLang="en-US">
                  <a:solidFill>
                    <a:srgbClr val="067A52"/>
                  </a:solidFill>
                  <a:latin typeface="Microsoft YaHei"/>
                  <a:ea typeface="Microsoft YaHei"/>
                  <a:cs typeface="Microsoft YaHei"/>
                </a:rPr>
                <a:t>资源可再次预约</a:t>
              </a:r>
            </a:p>
          </p:txBody>
        </p:sp>
      </p:grpSp>
      <p:grpSp>
        <p:nvGrpSpPr>
          <p:cNvPr id="135" name="06 运行底座闭环"/>
          <p:cNvGrpSpPr/>
          <p:nvPr/>
        </p:nvGrpSpPr>
        <p:grpSpPr>
          <a:xfrm>
            <a:off x="624824" y="434329"/>
            <a:ext cx="11079202" cy="5394824"/>
            <a:chOff x="624824" y="434329"/>
            <a:chExt cx="11079202" cy="5394824"/>
          </a:xfrm>
        </p:grpSpPr>
        <p:sp>
          <p:nvSpPr>
            <p:cNvPr id="136" name="Oval 135"/>
            <p:cNvSpPr/>
            <p:nvPr/>
          </p:nvSpPr>
          <p:spPr>
            <a:xfrm>
              <a:off x="9387605" y="1935431"/>
              <a:ext cx="106677" cy="106677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7" name="Connector 136"/>
            <p:cNvCxnSpPr/>
            <p:nvPr/>
          </p:nvCxnSpPr>
          <p:spPr>
            <a:xfrm>
              <a:off x="9413512" y="1988770"/>
              <a:ext cx="19812" cy="19811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37"/>
            <p:cNvCxnSpPr/>
            <p:nvPr/>
          </p:nvCxnSpPr>
          <p:spPr>
            <a:xfrm flipV="1">
              <a:off x="9433324" y="1964386"/>
              <a:ext cx="38099" cy="44195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ounded Rectangle 138"/>
            <p:cNvSpPr/>
            <p:nvPr/>
          </p:nvSpPr>
          <p:spPr>
            <a:xfrm>
              <a:off x="10301982" y="434329"/>
              <a:ext cx="1402044" cy="259073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0" name="Connector 139"/>
            <p:cNvCxnSpPr/>
            <p:nvPr/>
          </p:nvCxnSpPr>
          <p:spPr>
            <a:xfrm>
              <a:off x="10416279" y="563865"/>
              <a:ext cx="30479" cy="30480"/>
            </a:xfrm>
            <a:prstGeom prst="line">
              <a:avLst/>
            </a:prstGeom>
            <a:ln w="1778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40"/>
            <p:cNvCxnSpPr/>
            <p:nvPr/>
          </p:nvCxnSpPr>
          <p:spPr>
            <a:xfrm flipV="1">
              <a:off x="10446758" y="533386"/>
              <a:ext cx="53339" cy="60959"/>
            </a:xfrm>
            <a:prstGeom prst="line">
              <a:avLst/>
            </a:prstGeom>
            <a:ln w="1778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10545816" y="464808"/>
              <a:ext cx="1066773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1" lang="zh-CN" altLang="en-US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闭环完成</a:t>
              </a:r>
            </a:p>
          </p:txBody>
        </p:sp>
        <p:sp>
          <p:nvSpPr>
            <p:cNvPr id="143" name="Rounded Rectangle 142"/>
            <p:cNvSpPr/>
            <p:nvPr/>
          </p:nvSpPr>
          <p:spPr>
            <a:xfrm>
              <a:off x="624824" y="5615799"/>
              <a:ext cx="1066773" cy="213354"/>
            </a:xfrm>
            <a:prstGeom prst="roundRect">
              <a:avLst>
                <a:gd name="adj" fmla="val 50000"/>
              </a:avLst>
            </a:prstGeom>
            <a:solidFill>
              <a:srgbClr val="132A40"/>
            </a:solidFill>
            <a:ln w="8890">
              <a:solidFill>
                <a:srgbClr val="2A46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5239" rIns="1523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D7E4F1"/>
                  </a:solidFill>
                  <a:latin typeface="Microsoft YaHei"/>
                  <a:ea typeface="Microsoft YaHei"/>
                  <a:cs typeface="Microsoft YaHei"/>
                </a:rPr>
                <a:t>办公计算机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1996390" y="5615799"/>
              <a:ext cx="1295367" cy="213354"/>
            </a:xfrm>
            <a:prstGeom prst="roundRect">
              <a:avLst>
                <a:gd name="adj" fmla="val 50000"/>
              </a:avLst>
            </a:prstGeom>
            <a:solidFill>
              <a:srgbClr val="132A40"/>
            </a:solidFill>
            <a:ln w="8890">
              <a:solidFill>
                <a:srgbClr val="2A46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5239" rIns="1523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D7E4F1"/>
                  </a:solidFill>
                  <a:latin typeface="Microsoft YaHei"/>
                  <a:ea typeface="Microsoft YaHei"/>
                  <a:cs typeface="Microsoft YaHei"/>
                </a:rPr>
                <a:t>资源纳管服务器</a:t>
              </a:r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3596550" y="5615799"/>
              <a:ext cx="876278" cy="213354"/>
            </a:xfrm>
            <a:prstGeom prst="roundRect">
              <a:avLst>
                <a:gd name="adj" fmla="val 50000"/>
              </a:avLst>
            </a:prstGeom>
            <a:solidFill>
              <a:srgbClr val="132A40"/>
            </a:solidFill>
            <a:ln w="8890">
              <a:solidFill>
                <a:srgbClr val="2A46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5239" rIns="1523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D7E4F1"/>
                  </a:solidFill>
                  <a:latin typeface="Microsoft YaHei"/>
                  <a:ea typeface="Microsoft YaHei"/>
                  <a:cs typeface="Microsoft YaHei"/>
                </a:rPr>
                <a:t>测控代理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4777620" y="5615799"/>
              <a:ext cx="876278" cy="213354"/>
            </a:xfrm>
            <a:prstGeom prst="roundRect">
              <a:avLst>
                <a:gd name="adj" fmla="val 50000"/>
              </a:avLst>
            </a:prstGeom>
            <a:solidFill>
              <a:srgbClr val="132A40"/>
            </a:solidFill>
            <a:ln w="8890">
              <a:solidFill>
                <a:srgbClr val="2A46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5239" rIns="1523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D7E4F1"/>
                  </a:solidFill>
                  <a:latin typeface="Microsoft YaHei"/>
                  <a:ea typeface="Microsoft YaHei"/>
                  <a:cs typeface="Microsoft YaHei"/>
                </a:rPr>
                <a:t>测控装置</a:t>
              </a:r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5958691" y="5615799"/>
              <a:ext cx="761980" cy="213354"/>
            </a:xfrm>
            <a:prstGeom prst="roundRect">
              <a:avLst>
                <a:gd name="adj" fmla="val 50000"/>
              </a:avLst>
            </a:prstGeom>
            <a:solidFill>
              <a:srgbClr val="132A40"/>
            </a:solidFill>
            <a:ln w="8890">
              <a:solidFill>
                <a:srgbClr val="2A46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5239" rIns="1523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lang="zh-CN" altLang="en-US">
                  <a:solidFill>
                    <a:srgbClr val="D7E4F1"/>
                  </a:solidFill>
                  <a:latin typeface="Microsoft YaHei"/>
                  <a:ea typeface="Microsoft YaHei"/>
                  <a:cs typeface="Microsoft YaHei"/>
                </a:rPr>
                <a:t>目标机</a:t>
              </a:r>
            </a:p>
          </p:txBody>
        </p:sp>
        <p:cxnSp>
          <p:nvCxnSpPr>
            <p:cNvPr id="148" name="Connector 147"/>
            <p:cNvCxnSpPr/>
            <p:nvPr/>
          </p:nvCxnSpPr>
          <p:spPr>
            <a:xfrm>
              <a:off x="1691597" y="5722476"/>
              <a:ext cx="304793" cy="0"/>
            </a:xfrm>
            <a:prstGeom prst="line">
              <a:avLst/>
            </a:prstGeom>
            <a:ln w="12700">
              <a:solidFill>
                <a:srgbClr val="2DD4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>
              <a:off x="3291757" y="5722476"/>
              <a:ext cx="304793" cy="0"/>
            </a:xfrm>
            <a:prstGeom prst="line">
              <a:avLst/>
            </a:prstGeom>
            <a:ln w="12700">
              <a:solidFill>
                <a:srgbClr val="2DD4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149"/>
            <p:cNvCxnSpPr/>
            <p:nvPr/>
          </p:nvCxnSpPr>
          <p:spPr>
            <a:xfrm>
              <a:off x="4472828" y="5722476"/>
              <a:ext cx="304792" cy="0"/>
            </a:xfrm>
            <a:prstGeom prst="line">
              <a:avLst/>
            </a:prstGeom>
            <a:ln w="12700">
              <a:solidFill>
                <a:srgbClr val="2DD4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or 150"/>
            <p:cNvCxnSpPr/>
            <p:nvPr/>
          </p:nvCxnSpPr>
          <p:spPr>
            <a:xfrm>
              <a:off x="5653898" y="5722476"/>
              <a:ext cx="304793" cy="0"/>
            </a:xfrm>
            <a:prstGeom prst="line">
              <a:avLst/>
            </a:prstGeom>
            <a:ln w="12700">
              <a:solidFill>
                <a:srgbClr val="2DD4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资源纳管系统业务流程图（分步动画版）</dc:title>
  <dc:subject>资源纳管系统 16:9 点击分步动画</dc:subject>
  <dc:creator>ResNexus</dc:creator>
  <cp:keywords>资源纳管, 业务流程图, 点击动画, 目标机, 测控, 构型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