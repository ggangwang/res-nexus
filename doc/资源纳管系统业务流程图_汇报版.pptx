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【本页汇报口径】</a:t>
            </a:r>
          </a:p>
          <a:p>
            <a:r>
              <a:t>30 秒版：这一页回答两个问题——资源怎么管起来、业务怎么跑通。四个关键词是统一入口、校验前置、自动部署、回池复用。统一认证后按角色分流，三类角色先把权限、资源、构型数据补齐；用户按目标机、时段、构型发起申请，系统先校验再预约；到点自动部署并实时监控；结束后释放回池、看板更新，资源持续复用。底层由资源纳管服务器、测控代理、测控装置、目标机和多网络域支撑。</a:t>
            </a:r>
          </a:p>
          <a:p/>
          <a:p>
            <a:r>
              <a:t>2.5–3 分钟版：</a:t>
            </a:r>
          </a:p>
          <a:p>
            <a:r>
              <a:t>一、开场定位。建议先给结论：资源纳管不是把流程画长，而是把分散的目标机资源变成可预约、可部署、可监控、可回收的服务池。</a:t>
            </a:r>
          </a:p>
          <a:p>
            <a:r>
              <a:t>二、统一入口。用户完成统一认证后，系统按角色分流：系统管理员配置权限、字典、日志；资源管理员录入硬件、工具和连接关系；普通用户创建构型、上传工程。三类角色把基础数据补齐，形成“基础数据就绪”，后面的自动调度才有依据。</a:t>
            </a:r>
          </a:p>
          <a:p>
            <a:r>
              <a:t>三、校验前置。普通用户按目标机、时段、构型发起申请；系统先做可用性校验，不通过就返回调整，不把冲突留到部署阶段；校验通过后预约才生效。</a:t>
            </a:r>
          </a:p>
          <a:p>
            <a:r>
              <a:t>四、自动部署。预约时间到达后，系统按构型自动下发工具和工程，减少人工准备；进入使用状态后，运行状态实时可见、可监控。</a:t>
            </a:r>
          </a:p>
          <a:p>
            <a:r>
              <a:t>五、回池复用。使用结束释放占用资源，资源回池并恢复可调度，看板同步更新利用率和占用时长，为下一轮申请提供最新依据。</a:t>
            </a:r>
          </a:p>
          <a:p>
            <a:r>
              <a:t>六、底层支撑。底部“运行底座”对应硬件环境：办公终端、仿真上位机和测控代理接入资源纳管服务器；测控代理经测控装置对目标机做供电、离散量和串口控制；仿真测试数据回到仿真上位机；整套系统分布在工位区、工控网、设备网和调试区。</a:t>
            </a:r>
          </a:p>
          <a:p>
            <a:r>
              <a:t>七、收口。强调一句话：从人工协调走向可预约、可部署、可监控、可回收。每一步不仅完成业务动作，也在沉淀下一轮可复用的资源和数据。</a:t>
            </a:r>
          </a:p>
          <a:p/>
          <a:p>
            <a:r>
              <a:t>【预设问答】</a:t>
            </a:r>
          </a:p>
          <a:p>
            <a:r>
              <a:t>问：为什么先做可用性校验？</a:t>
            </a:r>
          </a:p>
          <a:p>
            <a:r>
              <a:t>答：把目标机、时段、构型的冲突挡在预约之前，避免“预约成功但无法部署”。</a:t>
            </a:r>
          </a:p>
          <a:p/>
          <a:p>
            <a:r>
              <a:t>问：资源回池后怎么继续复用？</a:t>
            </a:r>
          </a:p>
          <a:p>
            <a:r>
              <a:t>答：释放占用后状态恢复可调度，看板更新占用情况；下一次申请仍走可用性校验，避免用旧状态做新预约。</a:t>
            </a:r>
          </a:p>
          <a:p/>
          <a:p>
            <a:r>
              <a:t>【讲解提示】</a:t>
            </a:r>
          </a:p>
          <a:p>
            <a:r>
              <a:t>先总后分，手指沿四张阶段卡从左到右走；最后回到底部底座，说明业务闭环的硬件支撑。时间紧时只讲 30 秒版，再补一句底部底座。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ve ring"/>
          <p:cNvSpPr/>
          <p:nvPr/>
        </p:nvSpPr>
        <p:spPr>
          <a:xfrm>
            <a:off x="9326880" y="-1920240"/>
            <a:ext cx="4389120" cy="4389120"/>
          </a:xfrm>
          <a:prstGeom prst="ellipse">
            <a:avLst/>
          </a:prstGeom>
          <a:noFill/>
          <a:ln w="10160">
            <a:solidFill>
              <a:srgbClr val="E2EB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 ring"/>
          <p:cNvSpPr/>
          <p:nvPr/>
        </p:nvSpPr>
        <p:spPr>
          <a:xfrm>
            <a:off x="9985248" y="-1261872"/>
            <a:ext cx="3072384" cy="3072384"/>
          </a:xfrm>
          <a:prstGeom prst="ellipse">
            <a:avLst/>
          </a:prstGeom>
          <a:noFill/>
          <a:ln w="8890">
            <a:solidFill>
              <a:srgbClr val="E7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ve ring"/>
          <p:cNvSpPr/>
          <p:nvPr/>
        </p:nvSpPr>
        <p:spPr>
          <a:xfrm>
            <a:off x="10625328" y="-621792"/>
            <a:ext cx="1792224" cy="1792224"/>
          </a:xfrm>
          <a:prstGeom prst="ellipse">
            <a:avLst/>
          </a:prstGeom>
          <a:noFill/>
          <a:ln w="8890">
            <a:solidFill>
              <a:srgbClr val="DCE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p gradient rule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gradFill rotWithShape="1">
            <a:gsLst>
              <a:gs pos="0">
                <a:srgbClr val="2F6BFF"/>
              </a:gs>
              <a:gs pos="100000">
                <a:srgbClr val="0D9BA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7502" y="340614"/>
            <a:ext cx="59436" cy="59436"/>
          </a:xfrm>
          <a:prstGeom prst="ellipse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88036"/>
            <a:ext cx="7589520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lang="zh-CN" altLang="en-US" spc="135">
                <a:solidFill>
                  <a:srgbClr val="0B7C86"/>
                </a:solidFill>
                <a:latin typeface="Bahnschrift"/>
                <a:ea typeface="Bahnschrift"/>
                <a:cs typeface="Bahnschrift"/>
              </a:rPr>
              <a:t>RESOURCE MANAGEMENT  ·  BUSINESS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"/>
            <a:ext cx="905256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资源纳管系统业务流程图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005840"/>
            <a:ext cx="9784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三类角色协同，把分散的目标机资源变成</a:t>
            </a:r>
            <a:r>
              <a:rPr sz="1000" b="1" i="0" lang="zh-CN" altLang="en-US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可预约、可部署、可监控、可回收</a:t>
            </a:r>
            <a:r>
              <a:rPr sz="1000" b="0" i="0" lang="zh-CN" altLang="en-US">
                <a:solidFill>
                  <a:srgbClr val="4B5D72"/>
                </a:solidFill>
                <a:latin typeface="Microsoft YaHei"/>
                <a:ea typeface="Microsoft YaHei"/>
                <a:cs typeface="Microsoft YaHei"/>
              </a:rPr>
              <a:t>的服务池。</a:t>
            </a:r>
          </a:p>
        </p:txBody>
      </p:sp>
      <p:sp>
        <p:nvSpPr>
          <p:cNvPr id="10" name="Closed-loop badge"/>
          <p:cNvSpPr/>
          <p:nvPr/>
        </p:nvSpPr>
        <p:spPr>
          <a:xfrm>
            <a:off x="9802368" y="502920"/>
            <a:ext cx="1819656" cy="292608"/>
          </a:xfrm>
          <a:prstGeom prst="roundRect">
            <a:avLst>
              <a:gd name="adj" fmla="val 50000"/>
            </a:avLst>
          </a:prstGeom>
          <a:solidFill>
            <a:srgbClr val="F0FAF5"/>
          </a:solidFill>
          <a:ln w="8890">
            <a:solidFill>
              <a:srgbClr val="D2E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60102" y="614934"/>
            <a:ext cx="68580" cy="6858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31552" y="525780"/>
            <a:ext cx="1353312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lang="zh-CN" altLang="en-US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端到端业务闭环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1344168"/>
            <a:ext cx="11055096" cy="0"/>
          </a:xfrm>
          <a:prstGeom prst="line">
            <a:avLst/>
          </a:prstGeom>
          <a:ln w="6985">
            <a:solidFill>
              <a:srgbClr val="E5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" y="1481328"/>
            <a:ext cx="2606725" cy="3255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16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1645920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41348"/>
            <a:ext cx="310896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1613916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身份与准备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845" y="1677924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7620">
            <a:solidFill>
              <a:srgbClr val="E3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lang="zh-CN" altLang="en-US" spc="1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2048256"/>
            <a:ext cx="2277541" cy="0"/>
          </a:xfrm>
          <a:prstGeom prst="line">
            <a:avLst/>
          </a:prstGeom>
          <a:ln w="6985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383965" y="1481328"/>
            <a:ext cx="2606725" cy="3255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16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8557" y="1645920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8557" y="1641348"/>
            <a:ext cx="310896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893" y="1613916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申请与校验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40883" y="1677924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E9F8FA"/>
          </a:solidFill>
          <a:ln w="7620">
            <a:solidFill>
              <a:srgbClr val="DDF3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lang="zh-CN" altLang="en-US" spc="10">
                <a:solidFill>
                  <a:srgbClr val="0B7C86"/>
                </a:solidFill>
                <a:latin typeface="Microsoft YaHei"/>
                <a:ea typeface="Microsoft YaHei"/>
                <a:cs typeface="Microsoft YaHei"/>
              </a:rPr>
              <a:t>校验前置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48557" y="2048256"/>
            <a:ext cx="2277542" cy="0"/>
          </a:xfrm>
          <a:prstGeom prst="line">
            <a:avLst/>
          </a:prstGeom>
          <a:ln w="6985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201003" y="1481328"/>
            <a:ext cx="2606725" cy="3255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16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65595" y="1645920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5595" y="1641348"/>
            <a:ext cx="310896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7931" y="1613916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部署与使用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7921" y="1677924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EFF0FF"/>
          </a:solidFill>
          <a:ln w="7620">
            <a:solidFill>
              <a:srgbClr val="E7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lang="zh-CN" altLang="en-US" spc="10">
                <a:solidFill>
                  <a:srgbClr val="4238D8"/>
                </a:solidFill>
                <a:latin typeface="Microsoft YaHei"/>
                <a:ea typeface="Microsoft YaHei"/>
                <a:cs typeface="Microsoft YaHei"/>
              </a:rPr>
              <a:t>自动部署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365595" y="2048256"/>
            <a:ext cx="2277542" cy="0"/>
          </a:xfrm>
          <a:prstGeom prst="line">
            <a:avLst/>
          </a:prstGeom>
          <a:ln w="6985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18041" y="1481328"/>
            <a:ext cx="2606725" cy="3255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0160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2633" y="1645920"/>
            <a:ext cx="310896" cy="310896"/>
          </a:xfrm>
          <a:prstGeom prst="roundRect">
            <a:avLst>
              <a:gd name="adj" fmla="val 24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2633" y="1641348"/>
            <a:ext cx="310896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 lang="zh-CN" altLang="en-US" spc="2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4969" y="1613916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释放与回池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74959" y="1677924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EAF9F1"/>
          </a:solidFill>
          <a:ln w="7620">
            <a:solidFill>
              <a:srgbClr val="DD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 lang="zh-CN" altLang="en-US" spc="10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回池复用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82633" y="2048256"/>
            <a:ext cx="2277542" cy="0"/>
          </a:xfrm>
          <a:prstGeom prst="line">
            <a:avLst/>
          </a:prstGeom>
          <a:ln w="6985">
            <a:solidFill>
              <a:srgbClr val="E9EF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tage arrow 1"/>
          <p:cNvSpPr/>
          <p:nvPr/>
        </p:nvSpPr>
        <p:spPr>
          <a:xfrm>
            <a:off x="3214801" y="1728216"/>
            <a:ext cx="128016" cy="164592"/>
          </a:xfrm>
          <a:prstGeom prst="chevron">
            <a:avLst/>
          </a:prstGeom>
          <a:solidFill>
            <a:srgbClr val="B7C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age arrow 2"/>
          <p:cNvSpPr/>
          <p:nvPr/>
        </p:nvSpPr>
        <p:spPr>
          <a:xfrm>
            <a:off x="6031839" y="1728216"/>
            <a:ext cx="128016" cy="164592"/>
          </a:xfrm>
          <a:prstGeom prst="chevron">
            <a:avLst/>
          </a:prstGeom>
          <a:solidFill>
            <a:srgbClr val="B7C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age arrow 3"/>
          <p:cNvSpPr/>
          <p:nvPr/>
        </p:nvSpPr>
        <p:spPr>
          <a:xfrm>
            <a:off x="8848877" y="1728216"/>
            <a:ext cx="128016" cy="164592"/>
          </a:xfrm>
          <a:prstGeom prst="chevron">
            <a:avLst/>
          </a:prstGeom>
          <a:solidFill>
            <a:srgbClr val="B7C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2194560"/>
            <a:ext cx="2277541" cy="292608"/>
          </a:xfrm>
          <a:prstGeom prst="roundRect">
            <a:avLst>
              <a:gd name="adj" fmla="val 50000"/>
            </a:avLst>
          </a:prstGeom>
          <a:solidFill>
            <a:srgbClr val="EDF3FF"/>
          </a:solidFill>
          <a:ln w="9525">
            <a:solidFill>
              <a:srgbClr val="E3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lang="zh-CN" altLang="en-US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统一认证 · 用户登录</a:t>
            </a:r>
          </a:p>
        </p:txBody>
      </p:sp>
      <p:sp>
        <p:nvSpPr>
          <p:cNvPr id="42" name="Oval 41"/>
          <p:cNvSpPr/>
          <p:nvPr/>
        </p:nvSpPr>
        <p:spPr>
          <a:xfrm>
            <a:off x="838962" y="2302002"/>
            <a:ext cx="77724" cy="77724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1870290" y="2487168"/>
            <a:ext cx="0" cy="100584"/>
          </a:xfrm>
          <a:prstGeom prst="line">
            <a:avLst/>
          </a:prstGeom>
          <a:ln w="12700">
            <a:solidFill>
              <a:srgbClr val="2F6B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le split label"/>
          <p:cNvSpPr txBox="1"/>
          <p:nvPr/>
        </p:nvSpPr>
        <p:spPr>
          <a:xfrm>
            <a:off x="932688" y="2606040"/>
            <a:ext cx="1875205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 lang="zh-CN" altLang="en-US">
                <a:solidFill>
                  <a:srgbClr val="74879E"/>
                </a:solidFill>
                <a:latin typeface="Microsoft YaHei"/>
                <a:ea typeface="Microsoft YaHei"/>
                <a:cs typeface="Microsoft YaHei"/>
              </a:rPr>
              <a:t>按角色分流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2688" y="2674620"/>
            <a:ext cx="608418" cy="0"/>
          </a:xfrm>
          <a:prstGeom prst="line">
            <a:avLst/>
          </a:prstGeom>
          <a:ln w="6985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99474" y="2674620"/>
            <a:ext cx="608419" cy="0"/>
          </a:xfrm>
          <a:prstGeom prst="line">
            <a:avLst/>
          </a:prstGeom>
          <a:ln w="6985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31520" y="2770632"/>
            <a:ext cx="2003221" cy="320040"/>
          </a:xfrm>
          <a:prstGeom prst="roundRect">
            <a:avLst>
              <a:gd name="adj" fmla="val 18000"/>
            </a:avLst>
          </a:prstGeom>
          <a:solidFill>
            <a:srgbClr val="FAFBFE"/>
          </a:solidFill>
          <a:ln w="8255">
            <a:solidFill>
              <a:srgbClr val="E7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系统管理员</a:t>
            </a: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71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权限 · 字典 · 日志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2825496"/>
            <a:ext cx="210312" cy="210312"/>
          </a:xfrm>
          <a:prstGeom prst="roundRect">
            <a:avLst>
              <a:gd name="adj" fmla="val 24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825496"/>
            <a:ext cx="210312" cy="2103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3145536"/>
            <a:ext cx="2003221" cy="320040"/>
          </a:xfrm>
          <a:prstGeom prst="roundRect">
            <a:avLst>
              <a:gd name="adj" fmla="val 18000"/>
            </a:avLst>
          </a:prstGeom>
          <a:solidFill>
            <a:srgbClr val="FAFBFE"/>
          </a:solidFill>
          <a:ln w="8255">
            <a:solidFill>
              <a:srgbClr val="E7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资源管理员</a:t>
            </a: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71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硬件 · 工具 · 连接关系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" y="3200400"/>
            <a:ext cx="210312" cy="210312"/>
          </a:xfrm>
          <a:prstGeom prst="roundRect">
            <a:avLst>
              <a:gd name="adj" fmla="val 24000"/>
            </a:avLst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3200400"/>
            <a:ext cx="210312" cy="2103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3520440"/>
            <a:ext cx="2003221" cy="320040"/>
          </a:xfrm>
          <a:prstGeom prst="roundRect">
            <a:avLst>
              <a:gd name="adj" fmla="val 18000"/>
            </a:avLst>
          </a:prstGeom>
          <a:solidFill>
            <a:srgbClr val="FAFBFE"/>
          </a:solidFill>
          <a:ln w="8255">
            <a:solidFill>
              <a:srgbClr val="E7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" tIns="18288" bIns="18288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71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创建构型 · 上传工程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3575304"/>
            <a:ext cx="210312" cy="210312"/>
          </a:xfrm>
          <a:prstGeom prst="roundRect">
            <a:avLst>
              <a:gd name="adj" fmla="val 24000"/>
            </a:avLst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3575304"/>
            <a:ext cx="210312" cy="2103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 lang="zh-CN" altLang="en-US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734741" y="2930652"/>
            <a:ext cx="146304" cy="0"/>
          </a:xfrm>
          <a:prstGeom prst="line">
            <a:avLst/>
          </a:prstGeom>
          <a:ln w="7620">
            <a:solidFill>
              <a:srgbClr val="BCC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734741" y="3305556"/>
            <a:ext cx="146304" cy="0"/>
          </a:xfrm>
          <a:prstGeom prst="line">
            <a:avLst/>
          </a:prstGeom>
          <a:ln w="7620">
            <a:solidFill>
              <a:srgbClr val="BCC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34741" y="3680460"/>
            <a:ext cx="146304" cy="0"/>
          </a:xfrm>
          <a:prstGeom prst="line">
            <a:avLst/>
          </a:prstGeom>
          <a:ln w="7620">
            <a:solidFill>
              <a:srgbClr val="BCC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81045" y="2930652"/>
            <a:ext cx="0" cy="1033272"/>
          </a:xfrm>
          <a:prstGeom prst="line">
            <a:avLst/>
          </a:prstGeom>
          <a:ln w="8890">
            <a:solidFill>
              <a:srgbClr val="BCC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870290" y="3963924"/>
            <a:ext cx="1010755" cy="0"/>
          </a:xfrm>
          <a:prstGeom prst="line">
            <a:avLst/>
          </a:prstGeom>
          <a:ln w="8890">
            <a:solidFill>
              <a:srgbClr val="BCC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2855899" y="3938778"/>
            <a:ext cx="50292" cy="50292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870290" y="3963924"/>
            <a:ext cx="0" cy="137160"/>
          </a:xfrm>
          <a:prstGeom prst="line">
            <a:avLst/>
          </a:prstGeom>
          <a:ln w="12700">
            <a:solidFill>
              <a:srgbClr val="2F6B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731520" y="4101084"/>
            <a:ext cx="2277541" cy="310896"/>
          </a:xfrm>
          <a:prstGeom prst="roundRect">
            <a:avLst>
              <a:gd name="adj" fmla="val 50000"/>
            </a:avLst>
          </a:prstGeom>
          <a:solidFill>
            <a:srgbClr val="EAF9F1"/>
          </a:solidFill>
          <a:ln w="9525">
            <a:solidFill>
              <a:srgbClr val="BFE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 altLang="en-US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基础数据就绪</a:t>
            </a:r>
          </a:p>
        </p:txBody>
      </p:sp>
      <p:sp>
        <p:nvSpPr>
          <p:cNvPr id="64" name="Oval 63"/>
          <p:cNvSpPr/>
          <p:nvPr/>
        </p:nvSpPr>
        <p:spPr>
          <a:xfrm>
            <a:off x="838962" y="4217670"/>
            <a:ext cx="77724" cy="7772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3658285" y="2194560"/>
            <a:ext cx="2058085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目标机申请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目标机 · 时段 · 构型</a:t>
            </a:r>
          </a:p>
        </p:txBody>
      </p:sp>
      <p:sp>
        <p:nvSpPr>
          <p:cNvPr id="66" name="Oval 65"/>
          <p:cNvSpPr/>
          <p:nvPr/>
        </p:nvSpPr>
        <p:spPr>
          <a:xfrm>
            <a:off x="3765727" y="2420874"/>
            <a:ext cx="77724" cy="77724"/>
          </a:xfrm>
          <a:prstGeom prst="ellipse">
            <a:avLst/>
          </a:prstGeom>
          <a:solidFill>
            <a:srgbClr val="0D9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4687328" y="2724912"/>
            <a:ext cx="0" cy="137160"/>
          </a:xfrm>
          <a:prstGeom prst="line">
            <a:avLst/>
          </a:prstGeom>
          <a:ln w="12700">
            <a:solidFill>
              <a:srgbClr val="0D9B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Diamond 67"/>
          <p:cNvSpPr/>
          <p:nvPr/>
        </p:nvSpPr>
        <p:spPr>
          <a:xfrm>
            <a:off x="3910088" y="2880360"/>
            <a:ext cx="1554480" cy="694944"/>
          </a:xfrm>
          <a:prstGeom prst="diamond">
            <a:avLst/>
          </a:prstGeom>
          <a:solidFill>
            <a:srgbClr val="FFF7E6"/>
          </a:solidFill>
          <a:ln w="11430">
            <a:solidFill>
              <a:srgbClr val="E9B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lang="zh-CN" altLang="en-US">
                <a:solidFill>
                  <a:srgbClr val="955A00"/>
                </a:solidFill>
                <a:latin typeface="Microsoft YaHei"/>
                <a:ea typeface="Microsoft YaHei"/>
                <a:cs typeface="Microsoft YaHei"/>
              </a:rPr>
              <a:t>可用性校验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3493693" y="3227832"/>
            <a:ext cx="416395" cy="0"/>
          </a:xfrm>
          <a:prstGeom prst="line">
            <a:avLst/>
          </a:prstGeom>
          <a:ln w="11430">
            <a:solidFill>
              <a:srgbClr val="D98B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493693" y="2459736"/>
            <a:ext cx="0" cy="768096"/>
          </a:xfrm>
          <a:prstGeom prst="line">
            <a:avLst/>
          </a:prstGeom>
          <a:ln w="11430">
            <a:solidFill>
              <a:srgbClr val="D98B1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3493693" y="2459736"/>
            <a:ext cx="164592" cy="0"/>
          </a:xfrm>
          <a:prstGeom prst="line">
            <a:avLst/>
          </a:prstGeom>
          <a:ln w="11430">
            <a:solidFill>
              <a:srgbClr val="D98B1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687328" y="3575304"/>
            <a:ext cx="0" cy="493776"/>
          </a:xfrm>
          <a:prstGeom prst="line">
            <a:avLst/>
          </a:prstGeom>
          <a:ln w="16510">
            <a:solidFill>
              <a:srgbClr val="0E9F6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760480" y="3785616"/>
            <a:ext cx="420624" cy="1645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lang="zh-CN" altLang="en-US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30269" y="3685032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7620">
            <a:solidFill>
              <a:srgbClr val="E9B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rIns="9144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 lang="zh-CN" altLang="en-US" spc="10">
                <a:solidFill>
                  <a:srgbClr val="955A00"/>
                </a:solidFill>
                <a:latin typeface="Microsoft YaHei"/>
                <a:ea typeface="Microsoft YaHei"/>
                <a:cs typeface="Microsoft YaHei"/>
              </a:rPr>
              <a:t>不通过 · 返回调整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8285" y="4069080"/>
            <a:ext cx="2058085" cy="329184"/>
          </a:xfrm>
          <a:prstGeom prst="roundRect">
            <a:avLst>
              <a:gd name="adj" fmla="val 50000"/>
            </a:avLst>
          </a:prstGeom>
          <a:solidFill>
            <a:srgbClr val="EAF9F1"/>
          </a:solidFill>
          <a:ln w="9525">
            <a:solidFill>
              <a:srgbClr val="BFE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 lang="zh-CN" altLang="en-US">
                <a:solidFill>
                  <a:srgbClr val="067A52"/>
                </a:solidFill>
                <a:latin typeface="Microsoft YaHei"/>
                <a:ea typeface="Microsoft YaHei"/>
                <a:cs typeface="Microsoft YaHei"/>
              </a:rPr>
              <a:t>预约生效</a:t>
            </a:r>
          </a:p>
        </p:txBody>
      </p:sp>
      <p:sp>
        <p:nvSpPr>
          <p:cNvPr id="76" name="Oval 75"/>
          <p:cNvSpPr/>
          <p:nvPr/>
        </p:nvSpPr>
        <p:spPr>
          <a:xfrm>
            <a:off x="3765727" y="4194809"/>
            <a:ext cx="77724" cy="7772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365595" y="2249424"/>
            <a:ext cx="2277541" cy="5577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预约时间到达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系统定时触发</a:t>
            </a:r>
          </a:p>
        </p:txBody>
      </p:sp>
      <p:sp>
        <p:nvSpPr>
          <p:cNvPr id="78" name="Oval 77"/>
          <p:cNvSpPr/>
          <p:nvPr/>
        </p:nvSpPr>
        <p:spPr>
          <a:xfrm>
            <a:off x="6473037" y="2489454"/>
            <a:ext cx="77724" cy="77724"/>
          </a:xfrm>
          <a:prstGeom prst="ellipse">
            <a:avLst/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7504366" y="2807208"/>
            <a:ext cx="0" cy="164592"/>
          </a:xfrm>
          <a:prstGeom prst="line">
            <a:avLst/>
          </a:prstGeom>
          <a:ln w="12700">
            <a:solidFill>
              <a:srgbClr val="5B5B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6365595" y="2971800"/>
            <a:ext cx="2277541" cy="594360"/>
          </a:xfrm>
          <a:prstGeom prst="roundRect">
            <a:avLst>
              <a:gd name="adj" fmla="val 16000"/>
            </a:avLst>
          </a:prstGeom>
          <a:solidFill>
            <a:srgbClr val="EFF0FF"/>
          </a:solidFill>
          <a:ln w="9525">
            <a:solidFill>
              <a:srgbClr val="E7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自动部署构型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工具 / 工程按构型下发</a:t>
            </a:r>
          </a:p>
        </p:txBody>
      </p:sp>
      <p:sp>
        <p:nvSpPr>
          <p:cNvPr id="81" name="Oval 80"/>
          <p:cNvSpPr/>
          <p:nvPr/>
        </p:nvSpPr>
        <p:spPr>
          <a:xfrm>
            <a:off x="6473037" y="3230118"/>
            <a:ext cx="77724" cy="77724"/>
          </a:xfrm>
          <a:prstGeom prst="ellipse">
            <a:avLst/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7504366" y="3566160"/>
            <a:ext cx="0" cy="164592"/>
          </a:xfrm>
          <a:prstGeom prst="line">
            <a:avLst/>
          </a:prstGeom>
          <a:ln w="12700">
            <a:solidFill>
              <a:srgbClr val="5B5BF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6365595" y="3730752"/>
            <a:ext cx="2277541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进入使用状态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实时监控 · 状态可见</a:t>
            </a:r>
          </a:p>
        </p:txBody>
      </p:sp>
      <p:sp>
        <p:nvSpPr>
          <p:cNvPr id="84" name="Oval 83"/>
          <p:cNvSpPr/>
          <p:nvPr/>
        </p:nvSpPr>
        <p:spPr>
          <a:xfrm>
            <a:off x="6473037" y="3993641"/>
            <a:ext cx="77724" cy="77724"/>
          </a:xfrm>
          <a:prstGeom prst="ellipse">
            <a:avLst/>
          </a:prstGeom>
          <a:solidFill>
            <a:srgbClr val="5B5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407679" y="3851910"/>
            <a:ext cx="68580" cy="6858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382533" y="3826764"/>
            <a:ext cx="187452" cy="187452"/>
          </a:xfrm>
          <a:prstGeom prst="ellipse">
            <a:avLst/>
          </a:prstGeom>
          <a:noFill/>
          <a:ln w="7620">
            <a:solidFill>
              <a:srgbClr val="A7E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182633" y="2249424"/>
            <a:ext cx="2277541" cy="5577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使用结束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释放占用资源</a:t>
            </a:r>
          </a:p>
        </p:txBody>
      </p:sp>
      <p:sp>
        <p:nvSpPr>
          <p:cNvPr id="88" name="Oval 87"/>
          <p:cNvSpPr/>
          <p:nvPr/>
        </p:nvSpPr>
        <p:spPr>
          <a:xfrm>
            <a:off x="9290075" y="2489454"/>
            <a:ext cx="77724" cy="7772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0321404" y="2807208"/>
            <a:ext cx="0" cy="173736"/>
          </a:xfrm>
          <a:prstGeom prst="line">
            <a:avLst/>
          </a:prstGeom>
          <a:ln w="12700">
            <a:solidFill>
              <a:srgbClr val="0E9F6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182633" y="2980944"/>
            <a:ext cx="2277541" cy="557784"/>
          </a:xfrm>
          <a:prstGeom prst="roundRect">
            <a:avLst>
              <a:gd name="adj" fmla="val 16000"/>
            </a:avLst>
          </a:prstGeom>
          <a:solidFill>
            <a:srgbClr val="EAF9F1"/>
          </a:solidFill>
          <a:ln w="9525">
            <a:solidFill>
              <a:srgbClr val="DDF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资源回池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恢复可调度</a:t>
            </a:r>
          </a:p>
        </p:txBody>
      </p:sp>
      <p:sp>
        <p:nvSpPr>
          <p:cNvPr id="91" name="Oval 90"/>
          <p:cNvSpPr/>
          <p:nvPr/>
        </p:nvSpPr>
        <p:spPr>
          <a:xfrm>
            <a:off x="9290075" y="3220974"/>
            <a:ext cx="77724" cy="7772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10321404" y="3538728"/>
            <a:ext cx="0" cy="173736"/>
          </a:xfrm>
          <a:prstGeom prst="line">
            <a:avLst/>
          </a:prstGeom>
          <a:ln w="12700">
            <a:solidFill>
              <a:srgbClr val="0E9F6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9182633" y="3712464"/>
            <a:ext cx="2277541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3464" tIns="27432" bIns="27432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lang="zh-CN" altLang="en-US">
                <a:solidFill>
                  <a:srgbClr val="0F2137"/>
                </a:solidFill>
                <a:latin typeface="Microsoft YaHei"/>
                <a:ea typeface="Microsoft YaHei"/>
                <a:cs typeface="Microsoft YaHei"/>
              </a:rPr>
              <a:t>看板统计更新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5E7189"/>
                </a:solidFill>
                <a:latin typeface="Microsoft YaHei"/>
                <a:ea typeface="Microsoft YaHei"/>
                <a:cs typeface="Microsoft YaHei"/>
              </a:rPr>
              <a:t>利用率 · 占用时长</a:t>
            </a:r>
          </a:p>
        </p:txBody>
      </p:sp>
      <p:sp>
        <p:nvSpPr>
          <p:cNvPr id="94" name="Oval 93"/>
          <p:cNvSpPr/>
          <p:nvPr/>
        </p:nvSpPr>
        <p:spPr>
          <a:xfrm>
            <a:off x="9290075" y="3984498"/>
            <a:ext cx="77724" cy="77724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224717" y="3833622"/>
            <a:ext cx="68580" cy="6858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199571" y="3808476"/>
            <a:ext cx="187452" cy="187452"/>
          </a:xfrm>
          <a:prstGeom prst="ellipse">
            <a:avLst/>
          </a:prstGeom>
          <a:noFill/>
          <a:ln w="7620">
            <a:solidFill>
              <a:srgbClr val="A7E8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untime foundation band"/>
          <p:cNvSpPr/>
          <p:nvPr/>
        </p:nvSpPr>
        <p:spPr>
          <a:xfrm>
            <a:off x="566928" y="4992624"/>
            <a:ext cx="11057839" cy="111556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A1828"/>
              </a:gs>
              <a:gs pos="100000">
                <a:srgbClr val="102A43"/>
              </a:gs>
            </a:gsLst>
            <a:lin scaled="0" ang="0"/>
          </a:gradFill>
          <a:ln w="8255">
            <a:solidFill>
              <a:srgbClr val="1932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1520" y="5006340"/>
            <a:ext cx="10728655" cy="20116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31520" y="5376672"/>
            <a:ext cx="3200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77824" y="5340096"/>
            <a:ext cx="123444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lang="zh-CN" altLang="en-US">
                <a:solidFill>
                  <a:srgbClr val="F1F7FC"/>
                </a:solidFill>
                <a:latin typeface="Microsoft YaHei"/>
                <a:ea typeface="Microsoft YaHei"/>
                <a:cs typeface="Microsoft YaHei"/>
              </a:rPr>
              <a:t>运行底座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509" b="1" i="0" lang="zh-CN" altLang="en-US" spc="70">
                <a:solidFill>
                  <a:srgbClr val="6EE7D8"/>
                </a:solidFill>
                <a:latin typeface="Bahnschrift"/>
                <a:ea typeface="Bahnschrift"/>
                <a:cs typeface="Bahnschrift"/>
              </a:rPr>
              <a:t>CONTROL &amp; DATA FOUNDATION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03120" y="5349240"/>
            <a:ext cx="2331720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纳管接入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03120" y="5522976"/>
            <a:ext cx="23317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办公终端 / 仿真测试上位机 / 测控代理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720" b="1" i="0" lang="zh-CN" altLang="en-US">
                <a:solidFill>
                  <a:srgbClr val="F1F7FC"/>
                </a:solidFill>
                <a:latin typeface="Microsoft YaHei"/>
                <a:ea typeface="Microsoft YaHei"/>
                <a:cs typeface="Microsoft YaHei"/>
              </a:rPr>
              <a:t>资源纳管服务器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63440" y="5349240"/>
            <a:ext cx="2331720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测控执行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63440" y="5522976"/>
            <a:ext cx="233172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测控代理 → 测控装置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目标机 · 供电/离散量/串口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205472" y="5349240"/>
            <a:ext cx="2148840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数据回路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05472" y="5522976"/>
            <a:ext cx="214884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目标机 → 仿真测试数据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仿真测试上位机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573768" y="5349240"/>
            <a:ext cx="1700784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 lang="zh-CN" altLang="en-US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网络域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573768" y="5522976"/>
            <a:ext cx="1700784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工位区 · 工控网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720" b="0" i="0" lang="zh-CN" altLang="en-US">
                <a:solidFill>
                  <a:srgbClr val="D7E4F1"/>
                </a:solidFill>
                <a:latin typeface="Microsoft YaHei"/>
                <a:ea typeface="Microsoft YaHei"/>
                <a:cs typeface="Microsoft YaHei"/>
              </a:rPr>
              <a:t>设备网 · 调试区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498848" y="5321808"/>
            <a:ext cx="0" cy="621792"/>
          </a:xfrm>
          <a:prstGeom prst="line">
            <a:avLst/>
          </a:prstGeom>
          <a:ln w="6985">
            <a:solidFill>
              <a:srgbClr val="2941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040880" y="5321808"/>
            <a:ext cx="0" cy="621792"/>
          </a:xfrm>
          <a:prstGeom prst="line">
            <a:avLst/>
          </a:prstGeom>
          <a:ln w="6985">
            <a:solidFill>
              <a:srgbClr val="2941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418320" y="5321808"/>
            <a:ext cx="0" cy="621792"/>
          </a:xfrm>
          <a:prstGeom prst="line">
            <a:avLst/>
          </a:prstGeom>
          <a:ln w="6985">
            <a:solidFill>
              <a:srgbClr val="2941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66928" y="6254496"/>
            <a:ext cx="5303520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 lang="zh-CN" altLang="en-US">
                <a:solidFill>
                  <a:srgbClr val="8C9CAF"/>
                </a:solidFill>
                <a:latin typeface="Microsoft YaHei"/>
                <a:ea typeface="Microsoft YaHei"/>
                <a:cs typeface="Microsoft YaHei"/>
              </a:rPr>
              <a:t>资源纳管系统 · 业务流程图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943600" y="6254496"/>
            <a:ext cx="5678424" cy="1463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 lang="zh-CN" altLang="en-US">
                <a:solidFill>
                  <a:srgbClr val="8C9CAF"/>
                </a:solidFill>
                <a:latin typeface="Microsoft YaHei"/>
                <a:ea typeface="Microsoft YaHei"/>
                <a:cs typeface="Microsoft YaHei"/>
              </a:rPr>
              <a:t>依据业务流程图 / 工作原理框图 / 硬件环境示意图整理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资源纳管系统业务流程图</dc:title>
  <dc:subject>资源纳管系统 16:9 汇报版</dc:subject>
  <dc:creator>ResNexus</dc:creator>
  <cp:keywords>资源纳管, 业务流程图, 目标机, 测控, 构型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